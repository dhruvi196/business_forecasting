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notesMasterIdLst>
    <p:notesMasterId r:id="rId15"/>
  </p:notesMasterIdLst>
  <p:sldIdLst>
    <p:sldId id="256" r:id="rId2"/>
    <p:sldId id="258" r:id="rId3"/>
    <p:sldId id="259" r:id="rId4"/>
    <p:sldId id="260" r:id="rId5"/>
    <p:sldId id="261" r:id="rId6"/>
    <p:sldId id="263" r:id="rId7"/>
    <p:sldId id="262" r:id="rId8"/>
    <p:sldId id="265" r:id="rId9"/>
    <p:sldId id="266" r:id="rId10"/>
    <p:sldId id="268" r:id="rId11"/>
    <p:sldId id="269" r:id="rId12"/>
    <p:sldId id="271"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71"/>
    <p:restoredTop sz="96400"/>
  </p:normalViewPr>
  <p:slideViewPr>
    <p:cSldViewPr snapToGrid="0">
      <p:cViewPr varScale="1">
        <p:scale>
          <a:sx n="117" d="100"/>
          <a:sy n="117" d="100"/>
        </p:scale>
        <p:origin x="192"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D0FDB-6ABE-3C48-A552-A313D9D49299}" type="datetimeFigureOut">
              <a:rPr lang="en-US" smtClean="0"/>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C101D-2D0F-D14E-83E6-2F2E979030D7}" type="slidenum">
              <a:rPr lang="en-US" smtClean="0"/>
              <a:t>‹#›</a:t>
            </a:fld>
            <a:endParaRPr lang="en-US"/>
          </a:p>
        </p:txBody>
      </p:sp>
    </p:spTree>
    <p:extLst>
      <p:ext uri="{BB962C8B-B14F-4D97-AF65-F5344CB8AC3E}">
        <p14:creationId xmlns:p14="http://schemas.microsoft.com/office/powerpoint/2010/main" val="400799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AC101D-2D0F-D14E-83E6-2F2E979030D7}" type="slidenum">
              <a:rPr lang="en-US" smtClean="0"/>
              <a:t>4</a:t>
            </a:fld>
            <a:endParaRPr lang="en-US"/>
          </a:p>
        </p:txBody>
      </p:sp>
    </p:spTree>
    <p:extLst>
      <p:ext uri="{BB962C8B-B14F-4D97-AF65-F5344CB8AC3E}">
        <p14:creationId xmlns:p14="http://schemas.microsoft.com/office/powerpoint/2010/main" val="3514169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AC101D-2D0F-D14E-83E6-2F2E979030D7}" type="slidenum">
              <a:rPr lang="en-US" smtClean="0"/>
              <a:t>9</a:t>
            </a:fld>
            <a:endParaRPr lang="en-US"/>
          </a:p>
        </p:txBody>
      </p:sp>
    </p:spTree>
    <p:extLst>
      <p:ext uri="{BB962C8B-B14F-4D97-AF65-F5344CB8AC3E}">
        <p14:creationId xmlns:p14="http://schemas.microsoft.com/office/powerpoint/2010/main" val="3248233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Similar to Naïve forecast -&gt; Random Walk, SES, and ARIMA residual plots have random fluctuate around 0, therefore it can be concluded that all of these models captured the overall pattern of this dataset. There are high/low spikes observed that indicate variable seasonality with smaller amplitudes for all of the models.</a:t>
            </a:r>
            <a:endParaRPr lang="en-US" dirty="0"/>
          </a:p>
        </p:txBody>
      </p:sp>
      <p:sp>
        <p:nvSpPr>
          <p:cNvPr id="4" name="Slide Number Placeholder 3"/>
          <p:cNvSpPr>
            <a:spLocks noGrp="1"/>
          </p:cNvSpPr>
          <p:nvPr>
            <p:ph type="sldNum" sz="quarter" idx="5"/>
          </p:nvPr>
        </p:nvSpPr>
        <p:spPr/>
        <p:txBody>
          <a:bodyPr/>
          <a:lstStyle/>
          <a:p>
            <a:fld id="{06AC101D-2D0F-D14E-83E6-2F2E979030D7}" type="slidenum">
              <a:rPr lang="en-US" smtClean="0"/>
              <a:t>10</a:t>
            </a:fld>
            <a:endParaRPr lang="en-US"/>
          </a:p>
        </p:txBody>
      </p:sp>
    </p:spTree>
    <p:extLst>
      <p:ext uri="{BB962C8B-B14F-4D97-AF65-F5344CB8AC3E}">
        <p14:creationId xmlns:p14="http://schemas.microsoft.com/office/powerpoint/2010/main" val="1844494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295400" y="4701464"/>
            <a:ext cx="8952782" cy="1204036"/>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B8B3671-A306-4A69-8480-FA9BE839245D}"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295400" y="952500"/>
            <a:ext cx="8952781" cy="3748824"/>
          </a:xfrm>
          <a:noFill/>
        </p:spPr>
        <p:txBody>
          <a:bodyPr anchor="b">
            <a:normAutofit/>
          </a:bodyPr>
          <a:lstStyle>
            <a:lvl1pPr algn="l">
              <a:defRPr sz="3200" spc="530" baseline="0"/>
            </a:lvl1pPr>
          </a:lstStyle>
          <a:p>
            <a:r>
              <a:rPr lang="en-US" dirty="0"/>
              <a:t>Click to edit Master title style</a:t>
            </a:r>
          </a:p>
        </p:txBody>
      </p:sp>
    </p:spTree>
    <p:extLst>
      <p:ext uri="{BB962C8B-B14F-4D97-AF65-F5344CB8AC3E}">
        <p14:creationId xmlns:p14="http://schemas.microsoft.com/office/powerpoint/2010/main" val="340720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414948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295400" y="1618211"/>
            <a:ext cx="8412190" cy="3944389"/>
          </a:xfrm>
        </p:spPr>
        <p:txBody>
          <a:bodyPr anchor="t">
            <a:norm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295400" y="908858"/>
            <a:ext cx="8412192" cy="676102"/>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4985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295401" y="2260121"/>
            <a:ext cx="4350026" cy="36568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546574" y="2260120"/>
            <a:ext cx="4350025" cy="36568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342558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295400" y="966788"/>
            <a:ext cx="10059988" cy="105178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295400" y="2018581"/>
            <a:ext cx="4350027"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295400" y="2774756"/>
            <a:ext cx="4350027"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546572" y="2018581"/>
            <a:ext cx="4350028"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546572" y="2774756"/>
            <a:ext cx="4350028" cy="315079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B8B3671-A306-4A69-8480-FA9BE839245D}"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657975" y="2625552"/>
            <a:ext cx="42386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403684" y="2625552"/>
            <a:ext cx="42417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103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53938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87352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06484" y="1306484"/>
            <a:ext cx="3932237" cy="2122516"/>
          </a:xfrm>
        </p:spPr>
        <p:txBody>
          <a:bodyPr anchor="t">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96000" y="1312026"/>
            <a:ext cx="5143500" cy="456565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82968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06484" y="1307185"/>
            <a:ext cx="3932237" cy="2121813"/>
          </a:xfrm>
        </p:spPr>
        <p:txBody>
          <a:bodyPr anchor="t">
            <a:normAutofit/>
          </a:bodyPr>
          <a:lstStyle>
            <a:lvl1pPr>
              <a:defRPr sz="2400"/>
            </a:lvl1pPr>
          </a:lstStyle>
          <a:p>
            <a:r>
              <a:rPr lang="en-US" dirty="0"/>
              <a:t>Click to edit Master title style</a:t>
            </a:r>
          </a:p>
        </p:txBody>
      </p:sp>
      <p:sp>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857702" y="1307186"/>
            <a:ext cx="5038898" cy="45983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7119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256971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88334" y="952499"/>
            <a:ext cx="2051165" cy="4953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952500" y="952499"/>
            <a:ext cx="8235834" cy="49530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5DBDDF98-C922-483F-97E9-3E76B0201B42}" type="datetimeFigureOut">
              <a:rPr lang="en-US" smtClean="0"/>
              <a:t>11/24/25</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488395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295400" y="842963"/>
            <a:ext cx="9601200" cy="130968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295400" y="2262188"/>
            <a:ext cx="9601200" cy="36433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j-lt"/>
              </a:defRPr>
            </a:lvl1pPr>
          </a:lstStyle>
          <a:p>
            <a:fld id="{5DBDDF98-C922-483F-97E9-3E76B0201B42}" type="datetimeFigureOut">
              <a:rPr lang="en-US" smtClean="0"/>
              <a:pPr/>
              <a:t>11/24/25</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728107" y="6199188"/>
            <a:ext cx="619125" cy="365125"/>
          </a:xfrm>
          <a:prstGeom prst="rect">
            <a:avLst/>
          </a:prstGeom>
        </p:spPr>
        <p:txBody>
          <a:bodyPr vert="horz" lIns="91440" tIns="45720" rIns="91440" bIns="45720" rtlCol="0" anchor="ctr"/>
          <a:lstStyle>
            <a:lvl1pPr algn="r">
              <a:defRPr sz="1050">
                <a:solidFill>
                  <a:schemeClr val="tx1"/>
                </a:solidFill>
                <a:latin typeface="+mj-l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357414904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24" r:id="rId6"/>
    <p:sldLayoutId id="2147483719" r:id="rId7"/>
    <p:sldLayoutId id="2147483720" r:id="rId8"/>
    <p:sldLayoutId id="2147483721" r:id="rId9"/>
    <p:sldLayoutId id="2147483723" r:id="rId10"/>
    <p:sldLayoutId id="2147483722" r:id="rId11"/>
  </p:sldLayoutIdLst>
  <p:txStyles>
    <p:titleStyle>
      <a:lvl1pPr algn="l" defTabSz="914400" rtl="0" eaLnBrk="1" latinLnBrk="0" hangingPunct="1">
        <a:lnSpc>
          <a:spcPct val="120000"/>
        </a:lnSpc>
        <a:spcBef>
          <a:spcPct val="0"/>
        </a:spcBef>
        <a:buNone/>
        <a:defRPr sz="2800"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7E26772-EAFC-10BB-4659-99BF2A8A1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AEFA6A-E623-CF1A-3DDF-C38D3A7E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3335" y="952194"/>
            <a:ext cx="4140682" cy="495844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AB26D-351B-C9D1-4B23-2D4ACC82978F}"/>
              </a:ext>
            </a:extLst>
          </p:cNvPr>
          <p:cNvSpPr>
            <a:spLocks noGrp="1"/>
          </p:cNvSpPr>
          <p:nvPr>
            <p:ph type="ctrTitle"/>
          </p:nvPr>
        </p:nvSpPr>
        <p:spPr>
          <a:xfrm>
            <a:off x="756968" y="1995887"/>
            <a:ext cx="3665507" cy="2037951"/>
          </a:xfrm>
        </p:spPr>
        <p:txBody>
          <a:bodyPr anchor="ctr">
            <a:normAutofit fontScale="90000"/>
          </a:bodyPr>
          <a:lstStyle/>
          <a:p>
            <a:pPr algn="r"/>
            <a:r>
              <a:rPr lang="en-US" dirty="0"/>
              <a:t>Natural Gas Prices Forecasting</a:t>
            </a:r>
          </a:p>
        </p:txBody>
      </p:sp>
      <p:sp>
        <p:nvSpPr>
          <p:cNvPr id="3" name="Subtitle 2">
            <a:extLst>
              <a:ext uri="{FF2B5EF4-FFF2-40B4-BE49-F238E27FC236}">
                <a16:creationId xmlns:a16="http://schemas.microsoft.com/office/drawing/2014/main" id="{F88D3FF8-580C-7A37-A20D-478612ADFD67}"/>
              </a:ext>
            </a:extLst>
          </p:cNvPr>
          <p:cNvSpPr>
            <a:spLocks noGrp="1"/>
          </p:cNvSpPr>
          <p:nvPr>
            <p:ph type="subTitle" idx="1"/>
          </p:nvPr>
        </p:nvSpPr>
        <p:spPr>
          <a:xfrm>
            <a:off x="1441701" y="4413956"/>
            <a:ext cx="3119010" cy="1013687"/>
          </a:xfrm>
        </p:spPr>
        <p:txBody>
          <a:bodyPr anchor="b">
            <a:normAutofit/>
          </a:bodyPr>
          <a:lstStyle/>
          <a:p>
            <a:pPr algn="r"/>
            <a:r>
              <a:rPr lang="en-US" dirty="0"/>
              <a:t>Dhruvi Patel</a:t>
            </a:r>
          </a:p>
        </p:txBody>
      </p:sp>
      <p:pic>
        <p:nvPicPr>
          <p:cNvPr id="4" name="Picture 3" descr="Colorful paint pigments">
            <a:extLst>
              <a:ext uri="{FF2B5EF4-FFF2-40B4-BE49-F238E27FC236}">
                <a16:creationId xmlns:a16="http://schemas.microsoft.com/office/drawing/2014/main" id="{210A3FE1-1F8B-D7C9-E381-5A0AA91B25D2}"/>
              </a:ext>
            </a:extLst>
          </p:cNvPr>
          <p:cNvPicPr>
            <a:picLocks noChangeAspect="1"/>
          </p:cNvPicPr>
          <p:nvPr/>
        </p:nvPicPr>
        <p:blipFill>
          <a:blip r:embed="rId2"/>
          <a:srcRect r="44444"/>
          <a:stretch>
            <a:fillRect/>
          </a:stretch>
        </p:blipFill>
        <p:spPr>
          <a:xfrm>
            <a:off x="6096000" y="10"/>
            <a:ext cx="6096001" cy="6857990"/>
          </a:xfrm>
          <a:prstGeom prst="rect">
            <a:avLst/>
          </a:prstGeom>
        </p:spPr>
      </p:pic>
    </p:spTree>
    <p:extLst>
      <p:ext uri="{BB962C8B-B14F-4D97-AF65-F5344CB8AC3E}">
        <p14:creationId xmlns:p14="http://schemas.microsoft.com/office/powerpoint/2010/main" val="527385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926D2-6D53-04EB-A77C-1A9D392BA755}"/>
              </a:ext>
            </a:extLst>
          </p:cNvPr>
          <p:cNvSpPr>
            <a:spLocks noGrp="1"/>
          </p:cNvSpPr>
          <p:nvPr>
            <p:ph type="title"/>
          </p:nvPr>
        </p:nvSpPr>
        <p:spPr>
          <a:xfrm>
            <a:off x="1295400" y="0"/>
            <a:ext cx="9601200" cy="1211855"/>
          </a:xfrm>
        </p:spPr>
        <p:txBody>
          <a:bodyPr>
            <a:normAutofit/>
          </a:bodyPr>
          <a:lstStyle/>
          <a:p>
            <a:pPr algn="ctr"/>
            <a:r>
              <a:rPr lang="en-US" sz="4400" b="1" dirty="0"/>
              <a:t>Problem Statement</a:t>
            </a:r>
          </a:p>
        </p:txBody>
      </p:sp>
      <p:sp>
        <p:nvSpPr>
          <p:cNvPr id="3" name="Content Placeholder 2">
            <a:extLst>
              <a:ext uri="{FF2B5EF4-FFF2-40B4-BE49-F238E27FC236}">
                <a16:creationId xmlns:a16="http://schemas.microsoft.com/office/drawing/2014/main" id="{D498F262-C4D5-2B54-5623-6BC0BA8155C8}"/>
              </a:ext>
            </a:extLst>
          </p:cNvPr>
          <p:cNvSpPr>
            <a:spLocks noGrp="1"/>
          </p:cNvSpPr>
          <p:nvPr>
            <p:ph idx="1"/>
          </p:nvPr>
        </p:nvSpPr>
        <p:spPr>
          <a:xfrm>
            <a:off x="903513" y="1211855"/>
            <a:ext cx="10276115" cy="5188945"/>
          </a:xfrm>
        </p:spPr>
        <p:txBody>
          <a:bodyPr>
            <a:normAutofit lnSpcReduction="10000"/>
          </a:bodyPr>
          <a:lstStyle/>
          <a:p>
            <a:pPr marL="0" indent="0">
              <a:buNone/>
            </a:pPr>
            <a:r>
              <a:rPr lang="en-US" dirty="0"/>
              <a:t>The natural gas market is considered seasonal with dual seasonal peaks where annual seasonality is observed in winter, and secondary seasonal peak is observed in summer. There is also an economic element in the natural gas market especially with the adoption of EV cars and heighten geopolitical issues in the recent years. </a:t>
            </a:r>
          </a:p>
          <a:p>
            <a:pPr marL="0" indent="0">
              <a:buNone/>
            </a:pPr>
            <a:endParaRPr lang="en-US" dirty="0"/>
          </a:p>
          <a:p>
            <a:pPr marL="0" indent="0">
              <a:buNone/>
            </a:pPr>
            <a:r>
              <a:rPr lang="en-US" dirty="0"/>
              <a:t>Why accurate natural gas price forecasting matters:</a:t>
            </a:r>
          </a:p>
          <a:p>
            <a:pPr lvl="1">
              <a:buFont typeface="Wingdings" pitchFamily="2" charset="2"/>
              <a:buChar char="Ø"/>
            </a:pPr>
            <a:r>
              <a:rPr lang="en-US" altLang="en-US" dirty="0"/>
              <a:t>Budget and Cost Planning: power plants, manufacturing and commercial facilities, utilities companies</a:t>
            </a:r>
          </a:p>
          <a:p>
            <a:pPr lvl="1">
              <a:buFont typeface="Wingdings" pitchFamily="2" charset="2"/>
              <a:buChar char="Ø"/>
            </a:pPr>
            <a:r>
              <a:rPr lang="en-US" altLang="en-US" dirty="0"/>
              <a:t>Risk Management and Hedging: set hedging strategies, reduce exposure to price swings, time buying selling and storage decisions</a:t>
            </a:r>
          </a:p>
          <a:p>
            <a:pPr lvl="1">
              <a:buFont typeface="Wingdings" pitchFamily="2" charset="2"/>
              <a:buChar char="Ø"/>
            </a:pPr>
            <a:r>
              <a:rPr lang="en-US" altLang="en-US" dirty="0"/>
              <a:t>Electricity Market Planning: electricity market forecasting</a:t>
            </a:r>
          </a:p>
          <a:p>
            <a:pPr lvl="1">
              <a:buFont typeface="Wingdings" pitchFamily="2" charset="2"/>
              <a:buChar char="Ø"/>
            </a:pPr>
            <a:r>
              <a:rPr lang="en-US" altLang="en-US" dirty="0"/>
              <a:t>Policy, Regulation, &amp; Energy Security: plan long-term energy supply, set tariffs and public utility rates, evaluate affordability for households, assess impact of climate or emissions policies</a:t>
            </a:r>
          </a:p>
          <a:p>
            <a:pPr lvl="1">
              <a:buFont typeface="Wingdings" pitchFamily="2" charset="2"/>
              <a:buChar char="Ø"/>
            </a:pPr>
            <a:r>
              <a:rPr lang="en-US" altLang="en-US" dirty="0"/>
              <a:t>Investment Decisions: pipeline expansions, LNG terminals, drilling/exploration projects, storage facilities, renewable alternatives</a:t>
            </a:r>
          </a:p>
          <a:p>
            <a:pPr lvl="1">
              <a:buFont typeface="Wingdings" pitchFamily="2" charset="2"/>
              <a:buChar char="Ø"/>
            </a:pPr>
            <a:r>
              <a:rPr lang="en-US" altLang="en-US" dirty="0"/>
              <a:t>Environment &amp; Transition Planning: economy moving towards renewable energy or hydrogen</a:t>
            </a:r>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3157662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8D477-92B8-74F6-FF03-00DFB2AE2CE8}"/>
              </a:ext>
            </a:extLst>
          </p:cNvPr>
          <p:cNvSpPr>
            <a:spLocks noGrp="1"/>
          </p:cNvSpPr>
          <p:nvPr>
            <p:ph type="title"/>
          </p:nvPr>
        </p:nvSpPr>
        <p:spPr>
          <a:xfrm>
            <a:off x="1295400" y="0"/>
            <a:ext cx="9601200" cy="1309687"/>
          </a:xfrm>
        </p:spPr>
        <p:txBody>
          <a:bodyPr/>
          <a:lstStyle/>
          <a:p>
            <a:pPr algn="ctr"/>
            <a:r>
              <a:rPr lang="en-US" dirty="0"/>
              <a:t>Data</a:t>
            </a:r>
          </a:p>
        </p:txBody>
      </p:sp>
      <p:sp>
        <p:nvSpPr>
          <p:cNvPr id="3" name="Content Placeholder 2">
            <a:extLst>
              <a:ext uri="{FF2B5EF4-FFF2-40B4-BE49-F238E27FC236}">
                <a16:creationId xmlns:a16="http://schemas.microsoft.com/office/drawing/2014/main" id="{D8A67065-F4D3-32CD-FF0F-E836D0E6AF12}"/>
              </a:ext>
            </a:extLst>
          </p:cNvPr>
          <p:cNvSpPr>
            <a:spLocks noGrp="1"/>
          </p:cNvSpPr>
          <p:nvPr>
            <p:ph idx="1"/>
          </p:nvPr>
        </p:nvSpPr>
        <p:spPr>
          <a:xfrm>
            <a:off x="1295400" y="1309687"/>
            <a:ext cx="9601200" cy="4781780"/>
          </a:xfrm>
        </p:spPr>
        <p:txBody>
          <a:bodyPr>
            <a:normAutofit/>
          </a:bodyPr>
          <a:lstStyle/>
          <a:p>
            <a:pPr marL="0" indent="0">
              <a:buNone/>
            </a:pPr>
            <a:r>
              <a:rPr lang="en-US" dirty="0"/>
              <a:t>Total monthly Natural Gas prices in United States ($) from January 1997 to August 2020.</a:t>
            </a:r>
          </a:p>
          <a:p>
            <a:pPr lvl="1">
              <a:buFont typeface="Wingdings" pitchFamily="2" charset="2"/>
              <a:buChar char="§"/>
            </a:pPr>
            <a:r>
              <a:rPr lang="en-US" dirty="0"/>
              <a:t>Source: Kaggle</a:t>
            </a:r>
          </a:p>
          <a:p>
            <a:pPr lvl="1">
              <a:buFont typeface="Wingdings" pitchFamily="2" charset="2"/>
              <a:buChar char="§"/>
            </a:pPr>
            <a:r>
              <a:rPr lang="en-US" dirty="0"/>
              <a:t>Actual Data Source: US Energy Information Administration (EIA)</a:t>
            </a:r>
          </a:p>
          <a:p>
            <a:pPr marL="0" indent="0">
              <a:buNone/>
            </a:pPr>
            <a:endParaRPr lang="en-US" dirty="0"/>
          </a:p>
          <a:p>
            <a:pPr marL="0" indent="0">
              <a:buNone/>
            </a:pPr>
            <a:r>
              <a:rPr lang="en-US" dirty="0"/>
              <a:t>Background</a:t>
            </a:r>
          </a:p>
          <a:p>
            <a:pPr>
              <a:buFont typeface="Wingdings" pitchFamily="2" charset="2"/>
              <a:buChar char="Ø"/>
            </a:pPr>
            <a:r>
              <a:rPr lang="en-US" dirty="0"/>
              <a:t> Natural Gas prices are hard to forecast because: </a:t>
            </a:r>
          </a:p>
          <a:p>
            <a:pPr lvl="1">
              <a:buFont typeface="Wingdings" pitchFamily="2" charset="2"/>
              <a:buChar char="§"/>
            </a:pPr>
            <a:r>
              <a:rPr lang="en-US" dirty="0"/>
              <a:t>Although it has predictable demand, but prices are driven by unpredictable external factors that result in low signal and high noise</a:t>
            </a:r>
          </a:p>
          <a:p>
            <a:pPr lvl="1">
              <a:buFont typeface="Wingdings" pitchFamily="2" charset="2"/>
              <a:buChar char="§"/>
            </a:pPr>
            <a:r>
              <a:rPr lang="en-US" dirty="0"/>
              <a:t>Storage levels cause massive market shocks (pipeline outages, export/import constraints, etc.)</a:t>
            </a:r>
          </a:p>
          <a:p>
            <a:pPr lvl="1">
              <a:buFont typeface="Wingdings" pitchFamily="2" charset="2"/>
              <a:buChar char="§"/>
            </a:pPr>
            <a:r>
              <a:rPr lang="en-US" dirty="0"/>
              <a:t>Nonlinear relationships in terms of supply and demand</a:t>
            </a:r>
          </a:p>
          <a:p>
            <a:pPr lvl="1">
              <a:buFont typeface="Wingdings" pitchFamily="2" charset="2"/>
              <a:buChar char="§"/>
            </a:pPr>
            <a:r>
              <a:rPr lang="en-US" dirty="0"/>
              <a:t>Heavily traded commodity so it is extremely unstable </a:t>
            </a:r>
          </a:p>
        </p:txBody>
      </p:sp>
    </p:spTree>
    <p:extLst>
      <p:ext uri="{BB962C8B-B14F-4D97-AF65-F5344CB8AC3E}">
        <p14:creationId xmlns:p14="http://schemas.microsoft.com/office/powerpoint/2010/main" val="359494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4EEBF-535C-04E3-4FAC-400ACBA8411D}"/>
              </a:ext>
            </a:extLst>
          </p:cNvPr>
          <p:cNvSpPr>
            <a:spLocks noGrp="1"/>
          </p:cNvSpPr>
          <p:nvPr>
            <p:ph type="title"/>
          </p:nvPr>
        </p:nvSpPr>
        <p:spPr>
          <a:xfrm>
            <a:off x="1295400" y="0"/>
            <a:ext cx="9601200" cy="1309687"/>
          </a:xfrm>
        </p:spPr>
        <p:txBody>
          <a:bodyPr/>
          <a:lstStyle/>
          <a:p>
            <a:pPr algn="ctr"/>
            <a:r>
              <a:rPr lang="en-US" dirty="0"/>
              <a:t>Methodology</a:t>
            </a:r>
          </a:p>
        </p:txBody>
      </p:sp>
      <p:sp>
        <p:nvSpPr>
          <p:cNvPr id="3" name="Content Placeholder 2">
            <a:extLst>
              <a:ext uri="{FF2B5EF4-FFF2-40B4-BE49-F238E27FC236}">
                <a16:creationId xmlns:a16="http://schemas.microsoft.com/office/drawing/2014/main" id="{B71808CE-F10D-7765-B5B1-E46B83A651B4}"/>
              </a:ext>
            </a:extLst>
          </p:cNvPr>
          <p:cNvSpPr>
            <a:spLocks noGrp="1"/>
          </p:cNvSpPr>
          <p:nvPr>
            <p:ph idx="1"/>
          </p:nvPr>
        </p:nvSpPr>
        <p:spPr>
          <a:xfrm>
            <a:off x="1295400" y="1309686"/>
            <a:ext cx="9601200" cy="4881793"/>
          </a:xfrm>
        </p:spPr>
        <p:txBody>
          <a:bodyPr>
            <a:normAutofit/>
          </a:bodyPr>
          <a:lstStyle/>
          <a:p>
            <a:pPr>
              <a:buFont typeface="Wingdings" pitchFamily="2" charset="2"/>
              <a:buChar char="Ø"/>
            </a:pPr>
            <a:r>
              <a:rPr lang="en-US" sz="2000" dirty="0"/>
              <a:t> Accuracy Measure Used for the Model Analysis: MAPE (Mean Absolute   Percentage Error)</a:t>
            </a:r>
          </a:p>
          <a:p>
            <a:pPr lvl="1">
              <a:buFont typeface="Wingdings" pitchFamily="2" charset="2"/>
              <a:buChar char="§"/>
            </a:pPr>
            <a:r>
              <a:rPr lang="en-US" sz="1800" dirty="0"/>
              <a:t>Easy to interpret</a:t>
            </a:r>
          </a:p>
          <a:p>
            <a:pPr lvl="1">
              <a:buFont typeface="Wingdings" pitchFamily="2" charset="2"/>
              <a:buChar char="§"/>
            </a:pPr>
            <a:r>
              <a:rPr lang="en-US" sz="1800" dirty="0"/>
              <a:t>Scale-Independent</a:t>
            </a:r>
          </a:p>
          <a:p>
            <a:pPr lvl="1">
              <a:buFont typeface="Wingdings" pitchFamily="2" charset="2"/>
              <a:buChar char="§"/>
            </a:pPr>
            <a:r>
              <a:rPr lang="en-US" sz="1800" dirty="0"/>
              <a:t>Uses absolute mean error – equal weight to positive and negative values avoids over- and under- forecasting</a:t>
            </a:r>
          </a:p>
          <a:p>
            <a:pPr marL="246888" lvl="1" indent="0">
              <a:buNone/>
            </a:pPr>
            <a:endParaRPr lang="en-US" dirty="0"/>
          </a:p>
          <a:p>
            <a:pPr>
              <a:buFont typeface="Wingdings" pitchFamily="2" charset="2"/>
              <a:buChar char="Ø"/>
            </a:pPr>
            <a:r>
              <a:rPr lang="en-US" sz="2000" dirty="0"/>
              <a:t> Time Series Model Used</a:t>
            </a:r>
          </a:p>
          <a:p>
            <a:pPr lvl="1">
              <a:buFont typeface="Wingdings" pitchFamily="2" charset="2"/>
              <a:buChar char="§"/>
            </a:pPr>
            <a:r>
              <a:rPr lang="en-US" sz="1800" dirty="0"/>
              <a:t>Naïve Model</a:t>
            </a:r>
          </a:p>
          <a:p>
            <a:pPr lvl="2"/>
            <a:r>
              <a:rPr lang="en-US" sz="1600" dirty="0"/>
              <a:t>Moving Average model as the orders go up became equivalent to Naïve Model</a:t>
            </a:r>
          </a:p>
          <a:p>
            <a:pPr lvl="2"/>
            <a:r>
              <a:rPr lang="en-US" sz="1600" dirty="0"/>
              <a:t>Random Walk, Simple Exponential Smoothing, ARIMA produced similar MAPEs</a:t>
            </a:r>
          </a:p>
          <a:p>
            <a:pPr lvl="2"/>
            <a:r>
              <a:rPr lang="en-US" sz="1600" dirty="0"/>
              <a:t>Cost efficient and simple in terms of industry usage</a:t>
            </a:r>
          </a:p>
        </p:txBody>
      </p:sp>
    </p:spTree>
    <p:extLst>
      <p:ext uri="{BB962C8B-B14F-4D97-AF65-F5344CB8AC3E}">
        <p14:creationId xmlns:p14="http://schemas.microsoft.com/office/powerpoint/2010/main" val="475960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B94DF-9B34-C8E8-2201-96F7CBC60792}"/>
              </a:ext>
            </a:extLst>
          </p:cNvPr>
          <p:cNvSpPr>
            <a:spLocks noGrp="1"/>
          </p:cNvSpPr>
          <p:nvPr>
            <p:ph type="title"/>
          </p:nvPr>
        </p:nvSpPr>
        <p:spPr>
          <a:xfrm>
            <a:off x="0" y="0"/>
            <a:ext cx="12192000" cy="939503"/>
          </a:xfrm>
        </p:spPr>
        <p:txBody>
          <a:bodyPr>
            <a:normAutofit/>
          </a:bodyPr>
          <a:lstStyle/>
          <a:p>
            <a:pPr algn="ctr"/>
            <a:r>
              <a:rPr lang="en-US" dirty="0"/>
              <a:t>Exploration of Time series Data window</a:t>
            </a:r>
          </a:p>
        </p:txBody>
      </p:sp>
      <p:sp>
        <p:nvSpPr>
          <p:cNvPr id="3" name="Content Placeholder 2">
            <a:extLst>
              <a:ext uri="{FF2B5EF4-FFF2-40B4-BE49-F238E27FC236}">
                <a16:creationId xmlns:a16="http://schemas.microsoft.com/office/drawing/2014/main" id="{4158CAAB-5346-0575-A537-91FE09B81B8E}"/>
              </a:ext>
            </a:extLst>
          </p:cNvPr>
          <p:cNvSpPr>
            <a:spLocks noGrp="1"/>
          </p:cNvSpPr>
          <p:nvPr>
            <p:ph idx="1"/>
          </p:nvPr>
        </p:nvSpPr>
        <p:spPr>
          <a:xfrm>
            <a:off x="127321" y="5291357"/>
            <a:ext cx="11937358" cy="1397536"/>
          </a:xfrm>
        </p:spPr>
        <p:txBody>
          <a:bodyPr/>
          <a:lstStyle/>
          <a:p>
            <a:r>
              <a:rPr lang="en-US" dirty="0"/>
              <a:t>Higher spikes are observed around 2001, 2005, and early 2009 due to frigid winters, hurricanes, and combination of economic and financial instability, respectively.</a:t>
            </a:r>
          </a:p>
          <a:p>
            <a:r>
              <a:rPr lang="en-US" dirty="0"/>
              <a:t>For more accurate forecast, data was truncated around November 2009. </a:t>
            </a:r>
          </a:p>
          <a:p>
            <a:endParaRPr lang="en-US" dirty="0"/>
          </a:p>
        </p:txBody>
      </p:sp>
      <p:pic>
        <p:nvPicPr>
          <p:cNvPr id="4" name="Picture 3">
            <a:extLst>
              <a:ext uri="{FF2B5EF4-FFF2-40B4-BE49-F238E27FC236}">
                <a16:creationId xmlns:a16="http://schemas.microsoft.com/office/drawing/2014/main" id="{BEA557EB-9020-4EC4-20B8-967E7D0BB092}"/>
              </a:ext>
            </a:extLst>
          </p:cNvPr>
          <p:cNvPicPr>
            <a:picLocks noChangeAspect="1"/>
          </p:cNvPicPr>
          <p:nvPr/>
        </p:nvPicPr>
        <p:blipFill>
          <a:blip r:embed="rId2"/>
          <a:srcRect t="18286"/>
          <a:stretch>
            <a:fillRect/>
          </a:stretch>
        </p:blipFill>
        <p:spPr>
          <a:xfrm>
            <a:off x="127321" y="939503"/>
            <a:ext cx="5758880" cy="3044142"/>
          </a:xfrm>
          <a:prstGeom prst="rect">
            <a:avLst/>
          </a:prstGeom>
        </p:spPr>
      </p:pic>
      <p:pic>
        <p:nvPicPr>
          <p:cNvPr id="5" name="Picture 4">
            <a:extLst>
              <a:ext uri="{FF2B5EF4-FFF2-40B4-BE49-F238E27FC236}">
                <a16:creationId xmlns:a16="http://schemas.microsoft.com/office/drawing/2014/main" id="{22844C7E-4C2B-040C-4BF3-07CE0C2D394C}"/>
              </a:ext>
            </a:extLst>
          </p:cNvPr>
          <p:cNvPicPr>
            <a:picLocks noChangeAspect="1"/>
          </p:cNvPicPr>
          <p:nvPr/>
        </p:nvPicPr>
        <p:blipFill>
          <a:blip r:embed="rId3"/>
          <a:stretch>
            <a:fillRect/>
          </a:stretch>
        </p:blipFill>
        <p:spPr>
          <a:xfrm>
            <a:off x="5984112" y="2253306"/>
            <a:ext cx="6080567" cy="2858946"/>
          </a:xfrm>
          <a:prstGeom prst="rect">
            <a:avLst/>
          </a:prstGeom>
        </p:spPr>
      </p:pic>
      <p:sp>
        <p:nvSpPr>
          <p:cNvPr id="6" name="Bent Arrow 5">
            <a:extLst>
              <a:ext uri="{FF2B5EF4-FFF2-40B4-BE49-F238E27FC236}">
                <a16:creationId xmlns:a16="http://schemas.microsoft.com/office/drawing/2014/main" id="{A66524B9-6DEB-D101-58A1-B6FBD20184C0}"/>
              </a:ext>
            </a:extLst>
          </p:cNvPr>
          <p:cNvSpPr/>
          <p:nvPr/>
        </p:nvSpPr>
        <p:spPr>
          <a:xfrm rot="5400000">
            <a:off x="6245794" y="1207050"/>
            <a:ext cx="686663" cy="1405849"/>
          </a:xfrm>
          <a:prstGeom prst="bentArrow">
            <a:avLst/>
          </a:prstGeom>
          <a:solidFill>
            <a:schemeClr val="tx1">
              <a:lumMod val="95000"/>
              <a:lumOff val="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Tree>
    <p:extLst>
      <p:ext uri="{BB962C8B-B14F-4D97-AF65-F5344CB8AC3E}">
        <p14:creationId xmlns:p14="http://schemas.microsoft.com/office/powerpoint/2010/main" val="45930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BAAF-E615-212F-2FCD-743EFC67557E}"/>
              </a:ext>
            </a:extLst>
          </p:cNvPr>
          <p:cNvSpPr>
            <a:spLocks noGrp="1"/>
          </p:cNvSpPr>
          <p:nvPr>
            <p:ph type="title"/>
          </p:nvPr>
        </p:nvSpPr>
        <p:spPr>
          <a:xfrm>
            <a:off x="1295399" y="6828"/>
            <a:ext cx="9601200" cy="1309687"/>
          </a:xfrm>
        </p:spPr>
        <p:txBody>
          <a:bodyPr/>
          <a:lstStyle/>
          <a:p>
            <a:pPr algn="ctr"/>
            <a:r>
              <a:rPr lang="en-US" dirty="0"/>
              <a:t>Exploration – Data Check</a:t>
            </a:r>
          </a:p>
        </p:txBody>
      </p:sp>
      <p:sp>
        <p:nvSpPr>
          <p:cNvPr id="3" name="Content Placeholder 2">
            <a:extLst>
              <a:ext uri="{FF2B5EF4-FFF2-40B4-BE49-F238E27FC236}">
                <a16:creationId xmlns:a16="http://schemas.microsoft.com/office/drawing/2014/main" id="{C2F9945A-07EF-CEA3-EE1C-CB223BDEF751}"/>
              </a:ext>
            </a:extLst>
          </p:cNvPr>
          <p:cNvSpPr>
            <a:spLocks noGrp="1"/>
          </p:cNvSpPr>
          <p:nvPr>
            <p:ph idx="1"/>
          </p:nvPr>
        </p:nvSpPr>
        <p:spPr>
          <a:xfrm>
            <a:off x="8086381" y="1520328"/>
            <a:ext cx="2810218" cy="4241494"/>
          </a:xfrm>
        </p:spPr>
        <p:txBody>
          <a:bodyPr>
            <a:normAutofit/>
          </a:bodyPr>
          <a:lstStyle/>
          <a:p>
            <a:r>
              <a:rPr lang="en-US" sz="2000" dirty="0"/>
              <a:t>Only 2 outliers are observed, the rest of the data is summarized in the boxplot</a:t>
            </a:r>
          </a:p>
          <a:p>
            <a:pPr marL="0" indent="0">
              <a:buNone/>
            </a:pPr>
            <a:endParaRPr lang="en-US" sz="2000" dirty="0"/>
          </a:p>
          <a:p>
            <a:r>
              <a:rPr lang="en-US" sz="2000" dirty="0"/>
              <a:t>Median is shown around $2.99</a:t>
            </a:r>
          </a:p>
        </p:txBody>
      </p:sp>
      <p:pic>
        <p:nvPicPr>
          <p:cNvPr id="4" name="Picture 3">
            <a:extLst>
              <a:ext uri="{FF2B5EF4-FFF2-40B4-BE49-F238E27FC236}">
                <a16:creationId xmlns:a16="http://schemas.microsoft.com/office/drawing/2014/main" id="{2AD6C3C4-DF1C-0FFC-B556-02AE61D5B907}"/>
              </a:ext>
            </a:extLst>
          </p:cNvPr>
          <p:cNvPicPr>
            <a:picLocks noChangeAspect="1"/>
          </p:cNvPicPr>
          <p:nvPr/>
        </p:nvPicPr>
        <p:blipFill>
          <a:blip r:embed="rId2"/>
          <a:stretch>
            <a:fillRect/>
          </a:stretch>
        </p:blipFill>
        <p:spPr>
          <a:xfrm>
            <a:off x="96502" y="1520328"/>
            <a:ext cx="7893846" cy="3349127"/>
          </a:xfrm>
          <a:prstGeom prst="rect">
            <a:avLst/>
          </a:prstGeom>
        </p:spPr>
      </p:pic>
      <p:graphicFrame>
        <p:nvGraphicFramePr>
          <p:cNvPr id="5" name="Table 4">
            <a:extLst>
              <a:ext uri="{FF2B5EF4-FFF2-40B4-BE49-F238E27FC236}">
                <a16:creationId xmlns:a16="http://schemas.microsoft.com/office/drawing/2014/main" id="{F5296792-5814-7298-66AF-D8276505357A}"/>
              </a:ext>
            </a:extLst>
          </p:cNvPr>
          <p:cNvGraphicFramePr>
            <a:graphicFrameLocks noGrp="1"/>
          </p:cNvGraphicFramePr>
          <p:nvPr>
            <p:extLst>
              <p:ext uri="{D42A27DB-BD31-4B8C-83A1-F6EECF244321}">
                <p14:modId xmlns:p14="http://schemas.microsoft.com/office/powerpoint/2010/main" val="1629919243"/>
              </p:ext>
            </p:extLst>
          </p:nvPr>
        </p:nvGraphicFramePr>
        <p:xfrm>
          <a:off x="96502" y="5020142"/>
          <a:ext cx="7893846" cy="741680"/>
        </p:xfrm>
        <a:graphic>
          <a:graphicData uri="http://schemas.openxmlformats.org/drawingml/2006/table">
            <a:tbl>
              <a:tblPr firstRow="1" bandRow="1">
                <a:tableStyleId>{5C22544A-7EE6-4342-B048-85BDC9FD1C3A}</a:tableStyleId>
              </a:tblPr>
              <a:tblGrid>
                <a:gridCol w="1315641">
                  <a:extLst>
                    <a:ext uri="{9D8B030D-6E8A-4147-A177-3AD203B41FA5}">
                      <a16:colId xmlns:a16="http://schemas.microsoft.com/office/drawing/2014/main" val="4175110290"/>
                    </a:ext>
                  </a:extLst>
                </a:gridCol>
                <a:gridCol w="1315641">
                  <a:extLst>
                    <a:ext uri="{9D8B030D-6E8A-4147-A177-3AD203B41FA5}">
                      <a16:colId xmlns:a16="http://schemas.microsoft.com/office/drawing/2014/main" val="3129988732"/>
                    </a:ext>
                  </a:extLst>
                </a:gridCol>
                <a:gridCol w="1315641">
                  <a:extLst>
                    <a:ext uri="{9D8B030D-6E8A-4147-A177-3AD203B41FA5}">
                      <a16:colId xmlns:a16="http://schemas.microsoft.com/office/drawing/2014/main" val="1847303384"/>
                    </a:ext>
                  </a:extLst>
                </a:gridCol>
                <a:gridCol w="1315641">
                  <a:extLst>
                    <a:ext uri="{9D8B030D-6E8A-4147-A177-3AD203B41FA5}">
                      <a16:colId xmlns:a16="http://schemas.microsoft.com/office/drawing/2014/main" val="3828933281"/>
                    </a:ext>
                  </a:extLst>
                </a:gridCol>
                <a:gridCol w="1315641">
                  <a:extLst>
                    <a:ext uri="{9D8B030D-6E8A-4147-A177-3AD203B41FA5}">
                      <a16:colId xmlns:a16="http://schemas.microsoft.com/office/drawing/2014/main" val="3691686388"/>
                    </a:ext>
                  </a:extLst>
                </a:gridCol>
                <a:gridCol w="1315641">
                  <a:extLst>
                    <a:ext uri="{9D8B030D-6E8A-4147-A177-3AD203B41FA5}">
                      <a16:colId xmlns:a16="http://schemas.microsoft.com/office/drawing/2014/main" val="990026227"/>
                    </a:ext>
                  </a:extLst>
                </a:gridCol>
              </a:tblGrid>
              <a:tr h="370840">
                <a:tc>
                  <a:txBody>
                    <a:bodyPr/>
                    <a:lstStyle/>
                    <a:p>
                      <a:r>
                        <a:rPr lang="en-US" dirty="0"/>
                        <a:t> Min. </a:t>
                      </a:r>
                    </a:p>
                  </a:txBody>
                  <a:tcPr/>
                </a:tc>
                <a:tc>
                  <a:txBody>
                    <a:bodyPr/>
                    <a:lstStyle/>
                    <a:p>
                      <a:r>
                        <a:rPr lang="en-US" dirty="0"/>
                        <a:t>1st Qu. </a:t>
                      </a:r>
                    </a:p>
                  </a:txBody>
                  <a:tcPr/>
                </a:tc>
                <a:tc>
                  <a:txBody>
                    <a:bodyPr/>
                    <a:lstStyle/>
                    <a:p>
                      <a:r>
                        <a:rPr lang="en-US" dirty="0"/>
                        <a:t>Median </a:t>
                      </a:r>
                    </a:p>
                  </a:txBody>
                  <a:tcPr/>
                </a:tc>
                <a:tc>
                  <a:txBody>
                    <a:bodyPr/>
                    <a:lstStyle/>
                    <a:p>
                      <a:r>
                        <a:rPr lang="en-US" dirty="0"/>
                        <a:t>Mean</a:t>
                      </a:r>
                    </a:p>
                  </a:txBody>
                  <a:tcPr/>
                </a:tc>
                <a:tc>
                  <a:txBody>
                    <a:bodyPr/>
                    <a:lstStyle/>
                    <a:p>
                      <a:r>
                        <a:rPr lang="en-US" dirty="0"/>
                        <a:t>3rd Qu.</a:t>
                      </a:r>
                    </a:p>
                  </a:txBody>
                  <a:tcPr/>
                </a:tc>
                <a:tc>
                  <a:txBody>
                    <a:bodyPr/>
                    <a:lstStyle/>
                    <a:p>
                      <a:r>
                        <a:rPr lang="en-US" dirty="0"/>
                        <a:t>Max.</a:t>
                      </a:r>
                    </a:p>
                  </a:txBody>
                  <a:tcPr/>
                </a:tc>
                <a:extLst>
                  <a:ext uri="{0D108BD9-81ED-4DB2-BD59-A6C34878D82A}">
                    <a16:rowId xmlns:a16="http://schemas.microsoft.com/office/drawing/2014/main" val="3650832744"/>
                  </a:ext>
                </a:extLst>
              </a:tr>
              <a:tr h="370840">
                <a:tc>
                  <a:txBody>
                    <a:bodyPr/>
                    <a:lstStyle/>
                    <a:p>
                      <a:r>
                        <a:rPr lang="en-US" dirty="0"/>
                        <a:t>1.630 </a:t>
                      </a:r>
                    </a:p>
                  </a:txBody>
                  <a:tcPr/>
                </a:tc>
                <a:tc>
                  <a:txBody>
                    <a:bodyPr/>
                    <a:lstStyle/>
                    <a:p>
                      <a:r>
                        <a:rPr lang="en-US" dirty="0"/>
                        <a:t>2.652 </a:t>
                      </a:r>
                    </a:p>
                  </a:txBody>
                  <a:tcPr/>
                </a:tc>
                <a:tc>
                  <a:txBody>
                    <a:bodyPr/>
                    <a:lstStyle/>
                    <a:p>
                      <a:r>
                        <a:rPr lang="en-US" dirty="0"/>
                        <a:t>2.990</a:t>
                      </a:r>
                    </a:p>
                  </a:txBody>
                  <a:tcPr/>
                </a:tc>
                <a:tc>
                  <a:txBody>
                    <a:bodyPr/>
                    <a:lstStyle/>
                    <a:p>
                      <a:r>
                        <a:rPr lang="en-US" dirty="0"/>
                        <a:t>3.241</a:t>
                      </a:r>
                    </a:p>
                  </a:txBody>
                  <a:tcPr/>
                </a:tc>
                <a:tc>
                  <a:txBody>
                    <a:bodyPr/>
                    <a:lstStyle/>
                    <a:p>
                      <a:r>
                        <a:rPr lang="en-US" dirty="0"/>
                        <a:t>3.908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6.000</a:t>
                      </a:r>
                    </a:p>
                  </a:txBody>
                  <a:tcPr/>
                </a:tc>
                <a:extLst>
                  <a:ext uri="{0D108BD9-81ED-4DB2-BD59-A6C34878D82A}">
                    <a16:rowId xmlns:a16="http://schemas.microsoft.com/office/drawing/2014/main" val="3353184323"/>
                  </a:ext>
                </a:extLst>
              </a:tr>
            </a:tbl>
          </a:graphicData>
        </a:graphic>
      </p:graphicFrame>
    </p:spTree>
    <p:extLst>
      <p:ext uri="{BB962C8B-B14F-4D97-AF65-F5344CB8AC3E}">
        <p14:creationId xmlns:p14="http://schemas.microsoft.com/office/powerpoint/2010/main" val="2728258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A072-EA6A-35E6-E0C4-6E342458BB0F}"/>
              </a:ext>
            </a:extLst>
          </p:cNvPr>
          <p:cNvSpPr>
            <a:spLocks noGrp="1"/>
          </p:cNvSpPr>
          <p:nvPr>
            <p:ph type="title"/>
          </p:nvPr>
        </p:nvSpPr>
        <p:spPr>
          <a:xfrm>
            <a:off x="1387998" y="0"/>
            <a:ext cx="9601200" cy="798653"/>
          </a:xfrm>
        </p:spPr>
        <p:txBody>
          <a:bodyPr/>
          <a:lstStyle/>
          <a:p>
            <a:r>
              <a:rPr lang="en-US" dirty="0"/>
              <a:t>Exploration – ACF &amp; Seasonality</a:t>
            </a:r>
          </a:p>
        </p:txBody>
      </p:sp>
      <p:sp>
        <p:nvSpPr>
          <p:cNvPr id="3" name="Content Placeholder 2">
            <a:extLst>
              <a:ext uri="{FF2B5EF4-FFF2-40B4-BE49-F238E27FC236}">
                <a16:creationId xmlns:a16="http://schemas.microsoft.com/office/drawing/2014/main" id="{1705839E-DE6B-B085-EB73-C7DB03ADFCA8}"/>
              </a:ext>
            </a:extLst>
          </p:cNvPr>
          <p:cNvSpPr>
            <a:spLocks noGrp="1"/>
          </p:cNvSpPr>
          <p:nvPr>
            <p:ph idx="1"/>
          </p:nvPr>
        </p:nvSpPr>
        <p:spPr>
          <a:xfrm>
            <a:off x="7257326" y="952499"/>
            <a:ext cx="4433104" cy="4441303"/>
          </a:xfrm>
        </p:spPr>
        <p:txBody>
          <a:bodyPr>
            <a:normAutofit lnSpcReduction="10000"/>
          </a:bodyPr>
          <a:lstStyle/>
          <a:p>
            <a:pPr>
              <a:buFont typeface="Wingdings" pitchFamily="2" charset="2"/>
              <a:buChar char="Ø"/>
            </a:pPr>
            <a:r>
              <a:rPr lang="en-US" sz="2000" dirty="0"/>
              <a:t> Trend</a:t>
            </a:r>
          </a:p>
          <a:p>
            <a:pPr lvl="1">
              <a:buFont typeface="Wingdings" pitchFamily="2" charset="2"/>
              <a:buChar char="§"/>
            </a:pPr>
            <a:r>
              <a:rPr lang="en-US" sz="1800" dirty="0"/>
              <a:t>Declines at a faster pace prior to falling below the significant line.</a:t>
            </a:r>
          </a:p>
          <a:p>
            <a:pPr marL="246888" lvl="1" indent="0">
              <a:buNone/>
            </a:pPr>
            <a:endParaRPr lang="en-US" sz="1800" dirty="0"/>
          </a:p>
          <a:p>
            <a:pPr>
              <a:buFont typeface="Wingdings" pitchFamily="2" charset="2"/>
              <a:buChar char="Ø"/>
            </a:pPr>
            <a:r>
              <a:rPr lang="en-US" sz="2000" dirty="0"/>
              <a:t> Seasonality</a:t>
            </a:r>
          </a:p>
          <a:p>
            <a:pPr lvl="1">
              <a:buFont typeface="Wingdings" pitchFamily="2" charset="2"/>
              <a:buChar char="§"/>
            </a:pPr>
            <a:r>
              <a:rPr lang="en-US" sz="1800" dirty="0"/>
              <a:t>No significant seasonality</a:t>
            </a:r>
          </a:p>
          <a:p>
            <a:pPr lvl="1">
              <a:buFont typeface="Wingdings" pitchFamily="2" charset="2"/>
              <a:buChar char="§"/>
            </a:pPr>
            <a:r>
              <a:rPr lang="en-US" sz="1800" dirty="0"/>
              <a:t>Nearly stationary time series</a:t>
            </a:r>
          </a:p>
          <a:p>
            <a:pPr lvl="1">
              <a:buFont typeface="Wingdings" pitchFamily="2" charset="2"/>
              <a:buChar char="§"/>
            </a:pPr>
            <a:r>
              <a:rPr lang="en-US" sz="1800" dirty="0"/>
              <a:t>Suggests Random Walk</a:t>
            </a:r>
          </a:p>
          <a:p>
            <a:pPr marL="246888" lvl="1" indent="0">
              <a:buNone/>
            </a:pPr>
            <a:endParaRPr lang="en-US" sz="1800" dirty="0"/>
          </a:p>
          <a:p>
            <a:pPr>
              <a:buFont typeface="Wingdings" pitchFamily="2" charset="2"/>
              <a:buChar char="Ø"/>
            </a:pPr>
            <a:r>
              <a:rPr lang="en-US" sz="2000" dirty="0"/>
              <a:t> Series is trend-driven and not seasonal</a:t>
            </a:r>
          </a:p>
        </p:txBody>
      </p:sp>
      <p:pic>
        <p:nvPicPr>
          <p:cNvPr id="4" name="Picture 3">
            <a:extLst>
              <a:ext uri="{FF2B5EF4-FFF2-40B4-BE49-F238E27FC236}">
                <a16:creationId xmlns:a16="http://schemas.microsoft.com/office/drawing/2014/main" id="{F2C50082-6F5D-4075-8EC7-C0BE8CD82C01}"/>
              </a:ext>
            </a:extLst>
          </p:cNvPr>
          <p:cNvPicPr>
            <a:picLocks noChangeAspect="1"/>
          </p:cNvPicPr>
          <p:nvPr/>
        </p:nvPicPr>
        <p:blipFill>
          <a:blip r:embed="rId2"/>
          <a:stretch>
            <a:fillRect/>
          </a:stretch>
        </p:blipFill>
        <p:spPr>
          <a:xfrm>
            <a:off x="137932" y="952500"/>
            <a:ext cx="6968924" cy="4441303"/>
          </a:xfrm>
          <a:prstGeom prst="rect">
            <a:avLst/>
          </a:prstGeom>
        </p:spPr>
      </p:pic>
    </p:spTree>
    <p:extLst>
      <p:ext uri="{BB962C8B-B14F-4D97-AF65-F5344CB8AC3E}">
        <p14:creationId xmlns:p14="http://schemas.microsoft.com/office/powerpoint/2010/main" val="296470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BE587-3CF2-F300-7BE2-AB66D350982A}"/>
              </a:ext>
            </a:extLst>
          </p:cNvPr>
          <p:cNvSpPr>
            <a:spLocks noGrp="1"/>
          </p:cNvSpPr>
          <p:nvPr>
            <p:ph type="title"/>
          </p:nvPr>
        </p:nvSpPr>
        <p:spPr>
          <a:xfrm>
            <a:off x="385590" y="1"/>
            <a:ext cx="11446526" cy="1046602"/>
          </a:xfrm>
        </p:spPr>
        <p:txBody>
          <a:bodyPr/>
          <a:lstStyle/>
          <a:p>
            <a:pPr algn="ctr"/>
            <a:r>
              <a:rPr lang="en-US" dirty="0"/>
              <a:t>Decomposition</a:t>
            </a:r>
          </a:p>
        </p:txBody>
      </p:sp>
      <p:sp>
        <p:nvSpPr>
          <p:cNvPr id="3" name="Content Placeholder 2">
            <a:extLst>
              <a:ext uri="{FF2B5EF4-FFF2-40B4-BE49-F238E27FC236}">
                <a16:creationId xmlns:a16="http://schemas.microsoft.com/office/drawing/2014/main" id="{FA09C627-CFCA-D2BD-99B6-385DEB24EAF6}"/>
              </a:ext>
            </a:extLst>
          </p:cNvPr>
          <p:cNvSpPr>
            <a:spLocks noGrp="1"/>
          </p:cNvSpPr>
          <p:nvPr>
            <p:ph idx="1"/>
          </p:nvPr>
        </p:nvSpPr>
        <p:spPr>
          <a:xfrm>
            <a:off x="7712724" y="1230419"/>
            <a:ext cx="4369108" cy="5223315"/>
          </a:xfrm>
        </p:spPr>
        <p:txBody>
          <a:bodyPr>
            <a:normAutofit/>
          </a:bodyPr>
          <a:lstStyle/>
          <a:p>
            <a:pPr>
              <a:buFont typeface="Wingdings" pitchFamily="2" charset="2"/>
              <a:buChar char="Ø"/>
            </a:pPr>
            <a:r>
              <a:rPr lang="en-US" dirty="0"/>
              <a:t> Seasonality is observed</a:t>
            </a:r>
          </a:p>
          <a:p>
            <a:pPr lvl="1">
              <a:buFont typeface="Wingdings" pitchFamily="2" charset="2"/>
              <a:buChar char="§"/>
            </a:pPr>
            <a:r>
              <a:rPr lang="en-US" dirty="0"/>
              <a:t>Extremely regular       repeats every 12 months</a:t>
            </a:r>
          </a:p>
          <a:p>
            <a:pPr lvl="1">
              <a:buFont typeface="Wingdings" pitchFamily="2" charset="2"/>
              <a:buChar char="§"/>
            </a:pPr>
            <a:r>
              <a:rPr lang="en-US" dirty="0"/>
              <a:t>Has tiny amplitude (small highs/lows)</a:t>
            </a:r>
          </a:p>
          <a:p>
            <a:pPr lvl="1">
              <a:buFont typeface="Wingdings" pitchFamily="2" charset="2"/>
              <a:buChar char="§"/>
            </a:pPr>
            <a:r>
              <a:rPr lang="en-US" dirty="0"/>
              <a:t>Exists but weak relative to the level and trend of the series</a:t>
            </a:r>
          </a:p>
          <a:p>
            <a:pPr>
              <a:buFont typeface="Wingdings" pitchFamily="2" charset="2"/>
              <a:buChar char="Ø"/>
            </a:pPr>
            <a:r>
              <a:rPr lang="en-US" dirty="0"/>
              <a:t> Trend is observed</a:t>
            </a:r>
          </a:p>
          <a:p>
            <a:pPr lvl="1">
              <a:buFont typeface="Wingdings" pitchFamily="2" charset="2"/>
              <a:buChar char="§"/>
            </a:pPr>
            <a:r>
              <a:rPr lang="en-US" dirty="0"/>
              <a:t>Increasing and decreasing pattern is observed with an overall decreasing trend</a:t>
            </a:r>
          </a:p>
          <a:p>
            <a:pPr>
              <a:buFont typeface="Wingdings" pitchFamily="2" charset="2"/>
              <a:buChar char="Ø"/>
            </a:pPr>
            <a:r>
              <a:rPr lang="en-US" dirty="0"/>
              <a:t> Additive time series</a:t>
            </a:r>
          </a:p>
          <a:p>
            <a:pPr>
              <a:buFont typeface="Wingdings" pitchFamily="2" charset="2"/>
              <a:buChar char="Ø"/>
            </a:pPr>
            <a:r>
              <a:rPr lang="en-US" dirty="0"/>
              <a:t> Monthly Index Peaks</a:t>
            </a:r>
          </a:p>
          <a:p>
            <a:pPr lvl="1">
              <a:buFont typeface="Wingdings" pitchFamily="2" charset="2"/>
              <a:buChar char="§"/>
            </a:pPr>
            <a:r>
              <a:rPr lang="en-US" dirty="0"/>
              <a:t>High: February = 0.129913966 </a:t>
            </a:r>
          </a:p>
          <a:p>
            <a:pPr lvl="1">
              <a:buFont typeface="Wingdings" pitchFamily="2" charset="2"/>
              <a:buChar char="§"/>
            </a:pPr>
            <a:r>
              <a:rPr lang="en-US" dirty="0"/>
              <a:t>Low: May = - 0.133535108</a:t>
            </a:r>
          </a:p>
          <a:p>
            <a:pPr lvl="1"/>
            <a:endParaRPr lang="en-US" dirty="0"/>
          </a:p>
          <a:p>
            <a:endParaRPr lang="en-US" dirty="0"/>
          </a:p>
        </p:txBody>
      </p:sp>
      <p:pic>
        <p:nvPicPr>
          <p:cNvPr id="4" name="Picture 3">
            <a:extLst>
              <a:ext uri="{FF2B5EF4-FFF2-40B4-BE49-F238E27FC236}">
                <a16:creationId xmlns:a16="http://schemas.microsoft.com/office/drawing/2014/main" id="{5855DC27-3176-C0D8-E3B8-A1ED59B99C4C}"/>
              </a:ext>
            </a:extLst>
          </p:cNvPr>
          <p:cNvPicPr>
            <a:picLocks noChangeAspect="1"/>
          </p:cNvPicPr>
          <p:nvPr/>
        </p:nvPicPr>
        <p:blipFill>
          <a:blip r:embed="rId2"/>
          <a:srcRect l="3603"/>
          <a:stretch>
            <a:fillRect/>
          </a:stretch>
        </p:blipFill>
        <p:spPr>
          <a:xfrm>
            <a:off x="209320" y="1309687"/>
            <a:ext cx="7238082" cy="5144046"/>
          </a:xfrm>
          <a:prstGeom prst="rect">
            <a:avLst/>
          </a:prstGeom>
        </p:spPr>
      </p:pic>
      <p:cxnSp>
        <p:nvCxnSpPr>
          <p:cNvPr id="6" name="Straight Arrow Connector 5">
            <a:extLst>
              <a:ext uri="{FF2B5EF4-FFF2-40B4-BE49-F238E27FC236}">
                <a16:creationId xmlns:a16="http://schemas.microsoft.com/office/drawing/2014/main" id="{101437B3-278A-FC9D-C7C7-AB509D346C23}"/>
              </a:ext>
            </a:extLst>
          </p:cNvPr>
          <p:cNvCxnSpPr/>
          <p:nvPr/>
        </p:nvCxnSpPr>
        <p:spPr>
          <a:xfrm>
            <a:off x="9952362" y="1839817"/>
            <a:ext cx="2754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14795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1BFF5-C3CB-F13F-91F6-0D3E83F88F0A}"/>
              </a:ext>
            </a:extLst>
          </p:cNvPr>
          <p:cNvSpPr>
            <a:spLocks noGrp="1"/>
          </p:cNvSpPr>
          <p:nvPr>
            <p:ph type="title"/>
          </p:nvPr>
        </p:nvSpPr>
        <p:spPr>
          <a:xfrm>
            <a:off x="0" y="1"/>
            <a:ext cx="12192000" cy="624467"/>
          </a:xfrm>
        </p:spPr>
        <p:txBody>
          <a:bodyPr>
            <a:normAutofit/>
          </a:bodyPr>
          <a:lstStyle/>
          <a:p>
            <a:pPr algn="ctr"/>
            <a:r>
              <a:rPr lang="en-US" dirty="0"/>
              <a:t>Judgement: Model and Accuracy Analysis</a:t>
            </a:r>
          </a:p>
        </p:txBody>
      </p:sp>
      <p:pic>
        <p:nvPicPr>
          <p:cNvPr id="9" name="Picture 8">
            <a:extLst>
              <a:ext uri="{FF2B5EF4-FFF2-40B4-BE49-F238E27FC236}">
                <a16:creationId xmlns:a16="http://schemas.microsoft.com/office/drawing/2014/main" id="{C4C6C420-3611-E1F1-497E-C2A5937E975C}"/>
              </a:ext>
            </a:extLst>
          </p:cNvPr>
          <p:cNvPicPr>
            <a:picLocks noChangeAspect="1"/>
          </p:cNvPicPr>
          <p:nvPr/>
        </p:nvPicPr>
        <p:blipFill>
          <a:blip r:embed="rId3"/>
          <a:stretch>
            <a:fillRect/>
          </a:stretch>
        </p:blipFill>
        <p:spPr>
          <a:xfrm>
            <a:off x="735980" y="624468"/>
            <a:ext cx="10615961" cy="6043961"/>
          </a:xfrm>
          <a:prstGeom prst="rect">
            <a:avLst/>
          </a:prstGeom>
        </p:spPr>
      </p:pic>
      <p:graphicFrame>
        <p:nvGraphicFramePr>
          <p:cNvPr id="5" name="Content Placeholder 3">
            <a:extLst>
              <a:ext uri="{FF2B5EF4-FFF2-40B4-BE49-F238E27FC236}">
                <a16:creationId xmlns:a16="http://schemas.microsoft.com/office/drawing/2014/main" id="{51BB05B1-923F-655E-D2A1-0EA0081EE2A0}"/>
              </a:ext>
            </a:extLst>
          </p:cNvPr>
          <p:cNvGraphicFramePr>
            <a:graphicFrameLocks/>
          </p:cNvGraphicFramePr>
          <p:nvPr>
            <p:extLst>
              <p:ext uri="{D42A27DB-BD31-4B8C-83A1-F6EECF244321}">
                <p14:modId xmlns:p14="http://schemas.microsoft.com/office/powerpoint/2010/main" val="3032225576"/>
              </p:ext>
            </p:extLst>
          </p:nvPr>
        </p:nvGraphicFramePr>
        <p:xfrm>
          <a:off x="6096000" y="4738099"/>
          <a:ext cx="5166732" cy="1980235"/>
        </p:xfrm>
        <a:graphic>
          <a:graphicData uri="http://schemas.openxmlformats.org/drawingml/2006/table">
            <a:tbl>
              <a:tblPr firstRow="1" bandRow="1">
                <a:tableStyleId>{5C22544A-7EE6-4342-B048-85BDC9FD1C3A}</a:tableStyleId>
              </a:tblPr>
              <a:tblGrid>
                <a:gridCol w="1883634">
                  <a:extLst>
                    <a:ext uri="{9D8B030D-6E8A-4147-A177-3AD203B41FA5}">
                      <a16:colId xmlns:a16="http://schemas.microsoft.com/office/drawing/2014/main" val="1567981383"/>
                    </a:ext>
                  </a:extLst>
                </a:gridCol>
                <a:gridCol w="1593465">
                  <a:extLst>
                    <a:ext uri="{9D8B030D-6E8A-4147-A177-3AD203B41FA5}">
                      <a16:colId xmlns:a16="http://schemas.microsoft.com/office/drawing/2014/main" val="2669553397"/>
                    </a:ext>
                  </a:extLst>
                </a:gridCol>
                <a:gridCol w="1689633">
                  <a:extLst>
                    <a:ext uri="{9D8B030D-6E8A-4147-A177-3AD203B41FA5}">
                      <a16:colId xmlns:a16="http://schemas.microsoft.com/office/drawing/2014/main" val="3153832981"/>
                    </a:ext>
                  </a:extLst>
                </a:gridCol>
              </a:tblGrid>
              <a:tr h="370798">
                <a:tc>
                  <a:txBody>
                    <a:bodyPr/>
                    <a:lstStyle/>
                    <a:p>
                      <a:pPr algn="ctr" rtl="0" fontAlgn="b">
                        <a:buNone/>
                      </a:pPr>
                      <a:r>
                        <a:rPr lang="en-US" sz="1800" b="1" i="0" u="none" strike="noStrike" dirty="0">
                          <a:solidFill>
                            <a:srgbClr val="FFFFFF"/>
                          </a:solidFill>
                          <a:effectLst/>
                          <a:latin typeface="Univers Light" panose="020B0403020202020204" pitchFamily="34" charset="0"/>
                        </a:rPr>
                        <a:t>Model</a:t>
                      </a:r>
                    </a:p>
                  </a:txBody>
                  <a:tcPr marL="9525" marR="9525" marT="9525" marB="0" anchor="ctr"/>
                </a:tc>
                <a:tc>
                  <a:txBody>
                    <a:bodyPr/>
                    <a:lstStyle/>
                    <a:p>
                      <a:pPr algn="ctr" rtl="0" fontAlgn="b">
                        <a:buNone/>
                      </a:pPr>
                      <a:r>
                        <a:rPr lang="en-US" sz="1800" b="1" i="0" u="none" strike="noStrike" dirty="0">
                          <a:solidFill>
                            <a:srgbClr val="FFFFFF"/>
                          </a:solidFill>
                          <a:effectLst/>
                          <a:latin typeface="Univers Light" panose="020B0403020202020204" pitchFamily="34" charset="0"/>
                        </a:rPr>
                        <a:t>RMSE</a:t>
                      </a:r>
                    </a:p>
                  </a:txBody>
                  <a:tcPr marL="9525" marR="9525" marT="9525" marB="0" anchor="ctr"/>
                </a:tc>
                <a:tc>
                  <a:txBody>
                    <a:bodyPr/>
                    <a:lstStyle/>
                    <a:p>
                      <a:pPr algn="ctr" rtl="0" fontAlgn="b">
                        <a:buNone/>
                      </a:pPr>
                      <a:r>
                        <a:rPr lang="en-US" sz="1800" b="1" i="0" u="none" strike="noStrike" dirty="0">
                          <a:solidFill>
                            <a:srgbClr val="FFFFFF"/>
                          </a:solidFill>
                          <a:effectLst/>
                          <a:latin typeface="Univers Light" panose="020B0403020202020204" pitchFamily="34" charset="0"/>
                        </a:rPr>
                        <a:t>MAPE</a:t>
                      </a:r>
                    </a:p>
                  </a:txBody>
                  <a:tcPr marL="9525" marR="9525" marT="9525" marB="0" anchor="ctr"/>
                </a:tc>
                <a:extLst>
                  <a:ext uri="{0D108BD9-81ED-4DB2-BD59-A6C34878D82A}">
                    <a16:rowId xmlns:a16="http://schemas.microsoft.com/office/drawing/2014/main" val="3820395419"/>
                  </a:ext>
                </a:extLst>
              </a:tr>
              <a:tr h="328375">
                <a:tc>
                  <a:txBody>
                    <a:bodyPr/>
                    <a:lstStyle/>
                    <a:p>
                      <a:pPr algn="ctr" rtl="0" fontAlgn="t">
                        <a:buNone/>
                      </a:pPr>
                      <a:r>
                        <a:rPr lang="en-US" sz="1800" b="0" i="0" u="none" strike="noStrike" dirty="0">
                          <a:solidFill>
                            <a:srgbClr val="000000"/>
                          </a:solidFill>
                          <a:effectLst/>
                          <a:latin typeface="Univers Light" panose="020B0403020202020204" pitchFamily="34" charset="0"/>
                        </a:rPr>
                        <a:t>Naive</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0.407</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8.706</a:t>
                      </a:r>
                    </a:p>
                  </a:txBody>
                  <a:tcPr marL="9525" marR="9525" marT="9525" marB="0" anchor="ctr">
                    <a:solidFill>
                      <a:srgbClr val="00B050"/>
                    </a:solidFill>
                  </a:tcPr>
                </a:tc>
                <a:extLst>
                  <a:ext uri="{0D108BD9-81ED-4DB2-BD59-A6C34878D82A}">
                    <a16:rowId xmlns:a16="http://schemas.microsoft.com/office/drawing/2014/main" val="3775780433"/>
                  </a:ext>
                </a:extLst>
              </a:tr>
              <a:tr h="320976">
                <a:tc>
                  <a:txBody>
                    <a:bodyPr/>
                    <a:lstStyle/>
                    <a:p>
                      <a:pPr algn="ctr" rtl="0" fontAlgn="t">
                        <a:buNone/>
                      </a:pPr>
                      <a:r>
                        <a:rPr lang="en-US" sz="1800" b="0" i="0" u="none" strike="noStrike" dirty="0">
                          <a:solidFill>
                            <a:srgbClr val="000000"/>
                          </a:solidFill>
                          <a:effectLst/>
                          <a:latin typeface="Univers Light" panose="020B0403020202020204" pitchFamily="34" charset="0"/>
                        </a:rPr>
                        <a:t>ETS</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0.404</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8.742</a:t>
                      </a:r>
                    </a:p>
                  </a:txBody>
                  <a:tcPr marL="9525" marR="9525" marT="9525" marB="0" anchor="ctr"/>
                </a:tc>
                <a:extLst>
                  <a:ext uri="{0D108BD9-81ED-4DB2-BD59-A6C34878D82A}">
                    <a16:rowId xmlns:a16="http://schemas.microsoft.com/office/drawing/2014/main" val="3924484477"/>
                  </a:ext>
                </a:extLst>
              </a:tr>
              <a:tr h="320976">
                <a:tc>
                  <a:txBody>
                    <a:bodyPr/>
                    <a:lstStyle/>
                    <a:p>
                      <a:pPr algn="ctr" rtl="0" fontAlgn="t">
                        <a:buNone/>
                      </a:pPr>
                      <a:r>
                        <a:rPr lang="en-US" sz="1800" b="0" i="0" u="none" strike="noStrike" dirty="0">
                          <a:solidFill>
                            <a:srgbClr val="000000"/>
                          </a:solidFill>
                          <a:effectLst/>
                          <a:latin typeface="Univers Light" panose="020B0403020202020204" pitchFamily="34" charset="0"/>
                        </a:rPr>
                        <a:t>Random Walk</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0.406</a:t>
                      </a:r>
                    </a:p>
                  </a:txBody>
                  <a:tcPr marL="9525" marR="9525" marT="9525" marB="0" anchor="ctr"/>
                </a:tc>
                <a:tc>
                  <a:txBody>
                    <a:bodyPr/>
                    <a:lstStyle/>
                    <a:p>
                      <a:pPr algn="ctr" rtl="0" fontAlgn="t">
                        <a:buNone/>
                      </a:pPr>
                      <a:r>
                        <a:rPr lang="en-US" sz="1800" b="0" i="0" u="none" strike="noStrike">
                          <a:solidFill>
                            <a:srgbClr val="000000"/>
                          </a:solidFill>
                          <a:effectLst/>
                          <a:latin typeface="Univers Light" panose="020B0403020202020204" pitchFamily="34" charset="0"/>
                        </a:rPr>
                        <a:t>8.656</a:t>
                      </a:r>
                    </a:p>
                  </a:txBody>
                  <a:tcPr marL="9525" marR="9525" marT="9525" marB="0" anchor="ctr"/>
                </a:tc>
                <a:extLst>
                  <a:ext uri="{0D108BD9-81ED-4DB2-BD59-A6C34878D82A}">
                    <a16:rowId xmlns:a16="http://schemas.microsoft.com/office/drawing/2014/main" val="3465589937"/>
                  </a:ext>
                </a:extLst>
              </a:tr>
              <a:tr h="355265">
                <a:tc>
                  <a:txBody>
                    <a:bodyPr/>
                    <a:lstStyle/>
                    <a:p>
                      <a:pPr algn="ctr" rtl="0" fontAlgn="t">
                        <a:buNone/>
                      </a:pPr>
                      <a:r>
                        <a:rPr lang="en-US" sz="1800" b="0" i="0" u="none" strike="noStrike">
                          <a:solidFill>
                            <a:srgbClr val="000000"/>
                          </a:solidFill>
                          <a:effectLst/>
                          <a:latin typeface="Univers Light" panose="020B0403020202020204" pitchFamily="34" charset="0"/>
                        </a:rPr>
                        <a:t>SES</a:t>
                      </a:r>
                    </a:p>
                  </a:txBody>
                  <a:tcPr marL="9525" marR="9525" marT="9525" marB="0" anchor="ctr"/>
                </a:tc>
                <a:tc>
                  <a:txBody>
                    <a:bodyPr/>
                    <a:lstStyle/>
                    <a:p>
                      <a:pPr algn="ctr" rtl="0" fontAlgn="t">
                        <a:buNone/>
                      </a:pPr>
                      <a:r>
                        <a:rPr lang="en-US" sz="1800" b="0" i="0" u="none" strike="noStrike">
                          <a:solidFill>
                            <a:srgbClr val="000000"/>
                          </a:solidFill>
                          <a:effectLst/>
                          <a:latin typeface="Univers Light" panose="020B0403020202020204" pitchFamily="34" charset="0"/>
                        </a:rPr>
                        <a:t>0.405</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8.639</a:t>
                      </a:r>
                    </a:p>
                  </a:txBody>
                  <a:tcPr marL="9525" marR="9525" marT="9525" marB="0" anchor="ctr"/>
                </a:tc>
                <a:extLst>
                  <a:ext uri="{0D108BD9-81ED-4DB2-BD59-A6C34878D82A}">
                    <a16:rowId xmlns:a16="http://schemas.microsoft.com/office/drawing/2014/main" val="3686562002"/>
                  </a:ext>
                </a:extLst>
              </a:tr>
              <a:tr h="262981">
                <a:tc>
                  <a:txBody>
                    <a:bodyPr/>
                    <a:lstStyle/>
                    <a:p>
                      <a:pPr algn="ctr" rtl="0" fontAlgn="t">
                        <a:buNone/>
                      </a:pPr>
                      <a:r>
                        <a:rPr lang="en-US" sz="1800" b="0" i="0" u="none" strike="noStrike" dirty="0">
                          <a:solidFill>
                            <a:srgbClr val="000000"/>
                          </a:solidFill>
                          <a:effectLst/>
                          <a:latin typeface="Univers Light" panose="020B0403020202020204" pitchFamily="34" charset="0"/>
                        </a:rPr>
                        <a:t>ARIMA</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0.381</a:t>
                      </a:r>
                    </a:p>
                  </a:txBody>
                  <a:tcPr marL="9525" marR="9525" marT="9525" marB="0" anchor="ctr"/>
                </a:tc>
                <a:tc>
                  <a:txBody>
                    <a:bodyPr/>
                    <a:lstStyle/>
                    <a:p>
                      <a:pPr algn="ctr" rtl="0" fontAlgn="t">
                        <a:buNone/>
                      </a:pPr>
                      <a:r>
                        <a:rPr lang="en-US" sz="1800" b="0" i="0" u="none" strike="noStrike" dirty="0">
                          <a:solidFill>
                            <a:srgbClr val="000000"/>
                          </a:solidFill>
                          <a:effectLst/>
                          <a:latin typeface="Univers Light" panose="020B0403020202020204" pitchFamily="34" charset="0"/>
                        </a:rPr>
                        <a:t>8.633</a:t>
                      </a:r>
                    </a:p>
                  </a:txBody>
                  <a:tcPr marL="9525" marR="9525" marT="9525" marB="0" anchor="ctr"/>
                </a:tc>
                <a:extLst>
                  <a:ext uri="{0D108BD9-81ED-4DB2-BD59-A6C34878D82A}">
                    <a16:rowId xmlns:a16="http://schemas.microsoft.com/office/drawing/2014/main" val="3149798083"/>
                  </a:ext>
                </a:extLst>
              </a:tr>
            </a:tbl>
          </a:graphicData>
        </a:graphic>
      </p:graphicFrame>
    </p:spTree>
    <p:extLst>
      <p:ext uri="{BB962C8B-B14F-4D97-AF65-F5344CB8AC3E}">
        <p14:creationId xmlns:p14="http://schemas.microsoft.com/office/powerpoint/2010/main" val="2374162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C2E0A-AE41-F19D-6FE3-4FC06CE20DD7}"/>
              </a:ext>
            </a:extLst>
          </p:cNvPr>
          <p:cNvSpPr>
            <a:spLocks noGrp="1"/>
          </p:cNvSpPr>
          <p:nvPr>
            <p:ph type="title"/>
          </p:nvPr>
        </p:nvSpPr>
        <p:spPr>
          <a:xfrm>
            <a:off x="0" y="1"/>
            <a:ext cx="12192000" cy="776768"/>
          </a:xfrm>
        </p:spPr>
        <p:txBody>
          <a:bodyPr anchor="ctr">
            <a:normAutofit/>
          </a:bodyPr>
          <a:lstStyle/>
          <a:p>
            <a:pPr algn="ctr"/>
            <a:r>
              <a:rPr lang="en-US" dirty="0"/>
              <a:t>Forecasting Model Residuals</a:t>
            </a:r>
          </a:p>
        </p:txBody>
      </p:sp>
      <p:pic>
        <p:nvPicPr>
          <p:cNvPr id="4" name="Picture 3">
            <a:extLst>
              <a:ext uri="{FF2B5EF4-FFF2-40B4-BE49-F238E27FC236}">
                <a16:creationId xmlns:a16="http://schemas.microsoft.com/office/drawing/2014/main" id="{C095CF81-B36E-76F5-C121-49FB4A2513B6}"/>
              </a:ext>
            </a:extLst>
          </p:cNvPr>
          <p:cNvPicPr>
            <a:picLocks noChangeAspect="1"/>
          </p:cNvPicPr>
          <p:nvPr/>
        </p:nvPicPr>
        <p:blipFill>
          <a:blip r:embed="rId3"/>
          <a:stretch>
            <a:fillRect/>
          </a:stretch>
        </p:blipFill>
        <p:spPr>
          <a:xfrm>
            <a:off x="527358" y="923614"/>
            <a:ext cx="5041284" cy="2799662"/>
          </a:xfrm>
          <a:prstGeom prst="rect">
            <a:avLst/>
          </a:prstGeom>
        </p:spPr>
      </p:pic>
      <p:pic>
        <p:nvPicPr>
          <p:cNvPr id="5" name="Picture 4">
            <a:extLst>
              <a:ext uri="{FF2B5EF4-FFF2-40B4-BE49-F238E27FC236}">
                <a16:creationId xmlns:a16="http://schemas.microsoft.com/office/drawing/2014/main" id="{B3535A63-8C08-81A3-F851-93A1D1E8AC3D}"/>
              </a:ext>
            </a:extLst>
          </p:cNvPr>
          <p:cNvPicPr>
            <a:picLocks noChangeAspect="1"/>
          </p:cNvPicPr>
          <p:nvPr/>
        </p:nvPicPr>
        <p:blipFill>
          <a:blip r:embed="rId4"/>
          <a:stretch>
            <a:fillRect/>
          </a:stretch>
        </p:blipFill>
        <p:spPr>
          <a:xfrm>
            <a:off x="6005799" y="923614"/>
            <a:ext cx="5122153" cy="2799662"/>
          </a:xfrm>
          <a:prstGeom prst="rect">
            <a:avLst/>
          </a:prstGeom>
        </p:spPr>
      </p:pic>
      <p:pic>
        <p:nvPicPr>
          <p:cNvPr id="8" name="Picture 7">
            <a:extLst>
              <a:ext uri="{FF2B5EF4-FFF2-40B4-BE49-F238E27FC236}">
                <a16:creationId xmlns:a16="http://schemas.microsoft.com/office/drawing/2014/main" id="{0D718633-C5D9-C1F9-854F-8A7E94FA57FD}"/>
              </a:ext>
            </a:extLst>
          </p:cNvPr>
          <p:cNvPicPr>
            <a:picLocks noChangeAspect="1"/>
          </p:cNvPicPr>
          <p:nvPr/>
        </p:nvPicPr>
        <p:blipFill>
          <a:blip r:embed="rId5"/>
          <a:stretch>
            <a:fillRect/>
          </a:stretch>
        </p:blipFill>
        <p:spPr>
          <a:xfrm>
            <a:off x="530831" y="3870121"/>
            <a:ext cx="5037811" cy="2799662"/>
          </a:xfrm>
          <a:prstGeom prst="rect">
            <a:avLst/>
          </a:prstGeom>
        </p:spPr>
      </p:pic>
      <p:pic>
        <p:nvPicPr>
          <p:cNvPr id="9" name="Picture 8">
            <a:extLst>
              <a:ext uri="{FF2B5EF4-FFF2-40B4-BE49-F238E27FC236}">
                <a16:creationId xmlns:a16="http://schemas.microsoft.com/office/drawing/2014/main" id="{2804B417-5BE7-61AA-DF33-D802EC37D6D3}"/>
              </a:ext>
            </a:extLst>
          </p:cNvPr>
          <p:cNvPicPr>
            <a:picLocks noChangeAspect="1"/>
          </p:cNvPicPr>
          <p:nvPr/>
        </p:nvPicPr>
        <p:blipFill>
          <a:blip r:embed="rId6"/>
          <a:stretch>
            <a:fillRect/>
          </a:stretch>
        </p:blipFill>
        <p:spPr>
          <a:xfrm>
            <a:off x="6005800" y="3870122"/>
            <a:ext cx="5122153" cy="2799661"/>
          </a:xfrm>
          <a:prstGeom prst="rect">
            <a:avLst/>
          </a:prstGeom>
        </p:spPr>
      </p:pic>
    </p:spTree>
    <p:extLst>
      <p:ext uri="{BB962C8B-B14F-4D97-AF65-F5344CB8AC3E}">
        <p14:creationId xmlns:p14="http://schemas.microsoft.com/office/powerpoint/2010/main" val="2535714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4A3C-13B6-4EBE-2505-2C984642872F}"/>
              </a:ext>
            </a:extLst>
          </p:cNvPr>
          <p:cNvSpPr>
            <a:spLocks noGrp="1"/>
          </p:cNvSpPr>
          <p:nvPr>
            <p:ph type="title"/>
          </p:nvPr>
        </p:nvSpPr>
        <p:spPr>
          <a:xfrm>
            <a:off x="0" y="1"/>
            <a:ext cx="12192000" cy="858644"/>
          </a:xfrm>
        </p:spPr>
        <p:txBody>
          <a:bodyPr/>
          <a:lstStyle/>
          <a:p>
            <a:pPr algn="ctr"/>
            <a:r>
              <a:rPr lang="en-US" dirty="0"/>
              <a:t>Recommendation, Forecast &amp; Conclusion</a:t>
            </a:r>
          </a:p>
        </p:txBody>
      </p:sp>
      <p:sp>
        <p:nvSpPr>
          <p:cNvPr id="3" name="Content Placeholder 2">
            <a:extLst>
              <a:ext uri="{FF2B5EF4-FFF2-40B4-BE49-F238E27FC236}">
                <a16:creationId xmlns:a16="http://schemas.microsoft.com/office/drawing/2014/main" id="{4D0C2036-D997-2D3D-FA83-B16A7B39F593}"/>
              </a:ext>
            </a:extLst>
          </p:cNvPr>
          <p:cNvSpPr>
            <a:spLocks noGrp="1"/>
          </p:cNvSpPr>
          <p:nvPr>
            <p:ph idx="1"/>
          </p:nvPr>
        </p:nvSpPr>
        <p:spPr>
          <a:xfrm>
            <a:off x="776868" y="1092820"/>
            <a:ext cx="5066370" cy="5151864"/>
          </a:xfrm>
        </p:spPr>
        <p:txBody>
          <a:bodyPr>
            <a:normAutofit/>
          </a:bodyPr>
          <a:lstStyle/>
          <a:p>
            <a:pPr>
              <a:buFont typeface="Wingdings" pitchFamily="2" charset="2"/>
              <a:buChar char="Ø"/>
            </a:pPr>
            <a:r>
              <a:rPr lang="en-US" sz="2400" dirty="0"/>
              <a:t>Recommendation: Naïve Model</a:t>
            </a:r>
          </a:p>
          <a:p>
            <a:pPr lvl="1">
              <a:buFont typeface="Wingdings" pitchFamily="2" charset="2"/>
              <a:buChar char="§"/>
            </a:pPr>
            <a:r>
              <a:rPr lang="en-US" sz="2200" dirty="0"/>
              <a:t>MAPE: 8.706%</a:t>
            </a:r>
          </a:p>
          <a:p>
            <a:pPr lvl="1">
              <a:buFont typeface="Wingdings" pitchFamily="2" charset="2"/>
              <a:buChar char="§"/>
            </a:pPr>
            <a:r>
              <a:rPr lang="en-US" sz="2200" dirty="0"/>
              <a:t>Cost efficient</a:t>
            </a:r>
          </a:p>
          <a:p>
            <a:pPr lvl="1">
              <a:buFont typeface="Wingdings" pitchFamily="2" charset="2"/>
              <a:buChar char="§"/>
            </a:pPr>
            <a:r>
              <a:rPr lang="en-US" sz="2200" dirty="0"/>
              <a:t>Easy to understand </a:t>
            </a:r>
          </a:p>
          <a:p>
            <a:pPr lvl="1">
              <a:buFont typeface="Wingdings" pitchFamily="2" charset="2"/>
              <a:buChar char="§"/>
            </a:pPr>
            <a:r>
              <a:rPr lang="en-US" sz="2200" dirty="0"/>
              <a:t>Faster to compute</a:t>
            </a:r>
          </a:p>
          <a:p>
            <a:pPr lvl="1">
              <a:buFont typeface="Wingdings" pitchFamily="2" charset="2"/>
              <a:buChar char="§"/>
            </a:pPr>
            <a:r>
              <a:rPr lang="en-US" sz="2200" dirty="0"/>
              <a:t>Reduced risk of overfitting</a:t>
            </a:r>
          </a:p>
          <a:p>
            <a:pPr lvl="1">
              <a:buFont typeface="Wingdings" pitchFamily="2" charset="2"/>
              <a:buChar char="§"/>
            </a:pPr>
            <a:r>
              <a:rPr lang="en-US" sz="2200" dirty="0"/>
              <a:t>Easy to maintain with incoming data</a:t>
            </a:r>
          </a:p>
          <a:p>
            <a:pPr>
              <a:buFont typeface="Wingdings" pitchFamily="2" charset="2"/>
              <a:buChar char="Ø"/>
            </a:pPr>
            <a:r>
              <a:rPr lang="en-US" sz="2400" dirty="0"/>
              <a:t>Forecast for August 2021 (1 year): $2.30</a:t>
            </a:r>
          </a:p>
        </p:txBody>
      </p:sp>
      <p:sp>
        <p:nvSpPr>
          <p:cNvPr id="9" name="Content Placeholder 2">
            <a:extLst>
              <a:ext uri="{FF2B5EF4-FFF2-40B4-BE49-F238E27FC236}">
                <a16:creationId xmlns:a16="http://schemas.microsoft.com/office/drawing/2014/main" id="{CC25D562-198F-C141-08D9-D9B8BFB09642}"/>
              </a:ext>
            </a:extLst>
          </p:cNvPr>
          <p:cNvSpPr txBox="1">
            <a:spLocks/>
          </p:cNvSpPr>
          <p:nvPr/>
        </p:nvSpPr>
        <p:spPr>
          <a:xfrm>
            <a:off x="6266986" y="1092820"/>
            <a:ext cx="5066370" cy="515186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en-US" sz="2800" dirty="0"/>
              <a:t>Conclusion: </a:t>
            </a:r>
            <a:r>
              <a:rPr lang="en-US" sz="2600" dirty="0"/>
              <a:t>Natural Gas Prices are unstable and hard to predict</a:t>
            </a:r>
          </a:p>
          <a:p>
            <a:pPr lvl="1">
              <a:buFont typeface="Wingdings" pitchFamily="2" charset="2"/>
              <a:buChar char="§"/>
            </a:pPr>
            <a:r>
              <a:rPr lang="en-US" sz="2600" dirty="0"/>
              <a:t>Trend: This dataset has a relatively stable trend with no variability, and it is expected to decrease yet stay stable</a:t>
            </a:r>
          </a:p>
          <a:p>
            <a:pPr lvl="1">
              <a:buFont typeface="Wingdings" pitchFamily="2" charset="2"/>
              <a:buChar char="§"/>
            </a:pPr>
            <a:r>
              <a:rPr lang="en-US" sz="2600" dirty="0"/>
              <a:t>Seasonality: it is unstable/variable, peaking in February due to the high demands, and lower in May. Overall, the seasonality is weak due to smaller amplitude high/low spikes and variable year to year.</a:t>
            </a:r>
          </a:p>
          <a:p>
            <a:pPr lvl="1">
              <a:buFont typeface="Wingdings" pitchFamily="2" charset="2"/>
              <a:buChar char="§"/>
            </a:pPr>
            <a:r>
              <a:rPr lang="en-US" sz="2600" dirty="0"/>
              <a:t>Distribution &amp; Skewness: series is right-skewed, and variability increases from year to year. </a:t>
            </a:r>
          </a:p>
          <a:p>
            <a:pPr lvl="1">
              <a:buFont typeface="Wingdings" pitchFamily="2" charset="2"/>
              <a:buChar char="§"/>
            </a:pPr>
            <a:r>
              <a:rPr lang="en-US" sz="2600" dirty="0"/>
              <a:t>Autocorrelation: residuals are uncorrelated indicating adequate model fit for all the models.</a:t>
            </a:r>
          </a:p>
        </p:txBody>
      </p:sp>
    </p:spTree>
    <p:extLst>
      <p:ext uri="{BB962C8B-B14F-4D97-AF65-F5344CB8AC3E}">
        <p14:creationId xmlns:p14="http://schemas.microsoft.com/office/powerpoint/2010/main" val="3398585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AA98-7A4C-3E97-40EF-2512AA907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C2B402-0463-8369-5138-91F241D27366}"/>
              </a:ext>
            </a:extLst>
          </p:cNvPr>
          <p:cNvSpPr>
            <a:spLocks noGrp="1"/>
          </p:cNvSpPr>
          <p:nvPr>
            <p:ph type="title"/>
          </p:nvPr>
        </p:nvSpPr>
        <p:spPr>
          <a:xfrm>
            <a:off x="0" y="1"/>
            <a:ext cx="12192000" cy="858644"/>
          </a:xfrm>
        </p:spPr>
        <p:txBody>
          <a:bodyPr/>
          <a:lstStyle/>
          <a:p>
            <a:pPr algn="ctr"/>
            <a:r>
              <a:rPr lang="en-US" dirty="0"/>
              <a:t>How to improve the forecast</a:t>
            </a:r>
          </a:p>
        </p:txBody>
      </p:sp>
      <p:sp>
        <p:nvSpPr>
          <p:cNvPr id="3" name="Content Placeholder 2">
            <a:extLst>
              <a:ext uri="{FF2B5EF4-FFF2-40B4-BE49-F238E27FC236}">
                <a16:creationId xmlns:a16="http://schemas.microsoft.com/office/drawing/2014/main" id="{E42119F2-CFF1-A9BF-99FF-C9F54D108720}"/>
              </a:ext>
            </a:extLst>
          </p:cNvPr>
          <p:cNvSpPr>
            <a:spLocks noGrp="1"/>
          </p:cNvSpPr>
          <p:nvPr>
            <p:ph idx="1"/>
          </p:nvPr>
        </p:nvSpPr>
        <p:spPr>
          <a:xfrm>
            <a:off x="787754" y="940420"/>
            <a:ext cx="10794646" cy="5151864"/>
          </a:xfrm>
        </p:spPr>
        <p:txBody>
          <a:bodyPr>
            <a:normAutofit fontScale="92500" lnSpcReduction="20000"/>
          </a:bodyPr>
          <a:lstStyle/>
          <a:p>
            <a:pPr lvl="1">
              <a:buFont typeface="Wingdings" pitchFamily="2" charset="2"/>
              <a:buChar char="Ø"/>
            </a:pPr>
            <a:r>
              <a:rPr lang="en-US" sz="2200" dirty="0"/>
              <a:t>Machine Learning Regression Models + External Variables</a:t>
            </a:r>
          </a:p>
          <a:p>
            <a:pPr lvl="2">
              <a:buFont typeface="Wingdings" pitchFamily="2" charset="2"/>
              <a:buChar char="§"/>
            </a:pPr>
            <a:r>
              <a:rPr lang="en-US" sz="1900" dirty="0"/>
              <a:t>Add meaningful features like weather, demand levels, storage levels, geopolitical issues</a:t>
            </a:r>
          </a:p>
          <a:p>
            <a:pPr lvl="2">
              <a:buFont typeface="Wingdings" pitchFamily="2" charset="2"/>
              <a:buChar char="§"/>
            </a:pPr>
            <a:r>
              <a:rPr lang="en-US" sz="1900" dirty="0"/>
              <a:t>Models: </a:t>
            </a:r>
            <a:r>
              <a:rPr lang="en-US" sz="1900" dirty="0" err="1"/>
              <a:t>XGBoost</a:t>
            </a:r>
            <a:r>
              <a:rPr lang="en-US" sz="1900" dirty="0"/>
              <a:t>/</a:t>
            </a:r>
            <a:r>
              <a:rPr lang="en-US" sz="1900" dirty="0" err="1"/>
              <a:t>LightGBM</a:t>
            </a:r>
            <a:r>
              <a:rPr lang="en-US" sz="1900" dirty="0"/>
              <a:t>, Random Forest Regression, Gradient Boosting, ARIMAX (ARIMA with external regressors), Vector Autoregression with exogenous input (VARX) or neural networks</a:t>
            </a:r>
          </a:p>
          <a:p>
            <a:pPr lvl="2">
              <a:buFont typeface="Wingdings" pitchFamily="2" charset="2"/>
              <a:buChar char="§"/>
            </a:pPr>
            <a:r>
              <a:rPr lang="en-US" sz="1900" dirty="0"/>
              <a:t>Fixes: nonlinear relationships, add external features and interactions</a:t>
            </a:r>
          </a:p>
          <a:p>
            <a:pPr lvl="1">
              <a:buFont typeface="Wingdings" pitchFamily="2" charset="2"/>
              <a:buChar char="Ø"/>
            </a:pPr>
            <a:r>
              <a:rPr lang="en-US" sz="2200" dirty="0"/>
              <a:t>Model the changes (differences/returns)</a:t>
            </a:r>
          </a:p>
          <a:p>
            <a:pPr lvl="2">
              <a:buFont typeface="Wingdings" pitchFamily="2" charset="2"/>
              <a:buChar char="§"/>
            </a:pPr>
            <a:r>
              <a:rPr lang="en-US" sz="2000" dirty="0"/>
              <a:t>Transform data: forecast difference in price or log-returns instead of level and then reconstruct the level</a:t>
            </a:r>
          </a:p>
          <a:p>
            <a:pPr lvl="2">
              <a:buFont typeface="Wingdings" pitchFamily="2" charset="2"/>
              <a:buChar char="§"/>
            </a:pPr>
            <a:r>
              <a:rPr lang="en-US" sz="2000" dirty="0"/>
              <a:t>Fixes: stabilizes variance, handles the random behavior</a:t>
            </a:r>
          </a:p>
          <a:p>
            <a:pPr lvl="1">
              <a:buFont typeface="Wingdings" pitchFamily="2" charset="2"/>
              <a:buChar char="Ø"/>
            </a:pPr>
            <a:r>
              <a:rPr lang="en-US" sz="2200" dirty="0"/>
              <a:t>Hybrid/ensemble strategies</a:t>
            </a:r>
          </a:p>
          <a:p>
            <a:pPr lvl="2">
              <a:buFont typeface="Wingdings" pitchFamily="2" charset="2"/>
              <a:buChar char="§"/>
            </a:pPr>
            <a:r>
              <a:rPr lang="en-US" sz="2000" dirty="0"/>
              <a:t>Simple average, weighted average, stacking, forecast reconciliation for hierarchical forecasts</a:t>
            </a:r>
          </a:p>
          <a:p>
            <a:pPr lvl="2">
              <a:buFont typeface="Wingdings" pitchFamily="2" charset="2"/>
              <a:buChar char="§"/>
            </a:pPr>
            <a:r>
              <a:rPr lang="en-US" sz="2000" dirty="0"/>
              <a:t>Fixes: reduces model risk and is robust to new incoming data</a:t>
            </a:r>
            <a:endParaRPr lang="en-US" sz="2200" dirty="0"/>
          </a:p>
          <a:p>
            <a:pPr lvl="1">
              <a:buFont typeface="Wingdings" pitchFamily="2" charset="2"/>
              <a:buChar char="Ø"/>
            </a:pPr>
            <a:r>
              <a:rPr lang="en-US" sz="2200" dirty="0"/>
              <a:t>Probabilistic forecast: quantile regression</a:t>
            </a:r>
          </a:p>
        </p:txBody>
      </p:sp>
    </p:spTree>
    <p:extLst>
      <p:ext uri="{BB962C8B-B14F-4D97-AF65-F5344CB8AC3E}">
        <p14:creationId xmlns:p14="http://schemas.microsoft.com/office/powerpoint/2010/main" val="4056460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02AD333-7D19-00D0-11EE-DC132397F477}"/>
              </a:ext>
            </a:extLst>
          </p:cNvPr>
          <p:cNvSpPr>
            <a:spLocks noGrp="1"/>
          </p:cNvSpPr>
          <p:nvPr>
            <p:ph idx="1"/>
          </p:nvPr>
        </p:nvSpPr>
        <p:spPr>
          <a:xfrm>
            <a:off x="1295400" y="0"/>
            <a:ext cx="9601200" cy="6858000"/>
          </a:xfrm>
        </p:spPr>
        <p:txBody>
          <a:bodyPr anchor="ctr">
            <a:normAutofit/>
          </a:bodyPr>
          <a:lstStyle/>
          <a:p>
            <a:pPr marL="0" indent="0" algn="ctr">
              <a:buNone/>
            </a:pPr>
            <a:r>
              <a:rPr lang="en-US" sz="7200" dirty="0"/>
              <a:t>Questions?</a:t>
            </a:r>
          </a:p>
        </p:txBody>
      </p:sp>
    </p:spTree>
    <p:extLst>
      <p:ext uri="{BB962C8B-B14F-4D97-AF65-F5344CB8AC3E}">
        <p14:creationId xmlns:p14="http://schemas.microsoft.com/office/powerpoint/2010/main" val="1241275288"/>
      </p:ext>
    </p:extLst>
  </p:cSld>
  <p:clrMapOvr>
    <a:masterClrMapping/>
  </p:clrMapOvr>
</p:sld>
</file>

<file path=ppt/theme/theme1.xml><?xml version="1.0" encoding="utf-8"?>
<a:theme xmlns:a="http://schemas.openxmlformats.org/drawingml/2006/main" name="PoiseVTI">
  <a:themeElements>
    <a:clrScheme name="Poise">
      <a:dk1>
        <a:sysClr val="windowText" lastClr="000000"/>
      </a:dk1>
      <a:lt1>
        <a:sysClr val="window" lastClr="FFFFFF"/>
      </a:lt1>
      <a:dk2>
        <a:srgbClr val="403739"/>
      </a:dk2>
      <a:lt2>
        <a:srgbClr val="F4E9E6"/>
      </a:lt2>
      <a:accent1>
        <a:srgbClr val="B18083"/>
      </a:accent1>
      <a:accent2>
        <a:srgbClr val="C17A69"/>
      </a:accent2>
      <a:accent3>
        <a:srgbClr val="CE9573"/>
      </a:accent3>
      <a:accent4>
        <a:srgbClr val="82907A"/>
      </a:accent4>
      <a:accent5>
        <a:srgbClr val="9A9966"/>
      </a:accent5>
      <a:accent6>
        <a:srgbClr val="AB9955"/>
      </a:accent6>
      <a:hlink>
        <a:srgbClr val="A97979"/>
      </a:hlink>
      <a:folHlink>
        <a:srgbClr val="BB7563"/>
      </a:folHlink>
    </a:clrScheme>
    <a:fontScheme name="Goudy Univers">
      <a:majorFont>
        <a:latin typeface="Goudy Old Style"/>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iseVTI" id="{9843863B-6720-4231-BFE7-E604B355382A}" vid="{6C5B2780-C73E-445D-98DA-9D2BCD7897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9769</TotalTime>
  <Words>921</Words>
  <Application>Microsoft Macintosh PowerPoint</Application>
  <PresentationFormat>Widescreen</PresentationFormat>
  <Paragraphs>126</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Goudy Old Style</vt:lpstr>
      <vt:lpstr>Univers Light</vt:lpstr>
      <vt:lpstr>Wingdings</vt:lpstr>
      <vt:lpstr>PoiseVTI</vt:lpstr>
      <vt:lpstr>Natural Gas Prices Forecasting</vt:lpstr>
      <vt:lpstr>Problem Statement</vt:lpstr>
      <vt:lpstr>Data</vt:lpstr>
      <vt:lpstr>Methodology</vt:lpstr>
      <vt:lpstr>Exploration of Time series Data window</vt:lpstr>
      <vt:lpstr>Exploration – Data Check</vt:lpstr>
      <vt:lpstr>Exploration – ACF &amp; Seasonality</vt:lpstr>
      <vt:lpstr>Decomposition</vt:lpstr>
      <vt:lpstr>Judgement: Model and Accuracy Analysis</vt:lpstr>
      <vt:lpstr>Forecasting Model Residuals</vt:lpstr>
      <vt:lpstr>Recommendation, Forecast &amp; Conclusion</vt:lpstr>
      <vt:lpstr>How to improve the forecast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Dhruvi Patel</dc:creator>
  <cp:lastModifiedBy>Dhruvi Patel</cp:lastModifiedBy>
  <cp:revision>18</cp:revision>
  <dcterms:created xsi:type="dcterms:W3CDTF">2025-11-18T03:04:30Z</dcterms:created>
  <dcterms:modified xsi:type="dcterms:W3CDTF">2025-11-24T22:07:47Z</dcterms:modified>
</cp:coreProperties>
</file>